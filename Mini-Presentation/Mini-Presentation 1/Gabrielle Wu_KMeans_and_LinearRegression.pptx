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1pPr>
    <a:lvl2pPr marL="0" marR="0" indent="457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68" name="Shape 168"/>
          <p:cNvSpPr/>
          <p:nvPr>
            <p:ph type="sldImg"/>
          </p:nvPr>
        </p:nvSpPr>
        <p:spPr>
          <a:xfrm>
            <a:off x="1143000" y="685800"/>
            <a:ext cx="4572000" cy="3429000"/>
          </a:xfrm>
          <a:prstGeom prst="rect">
            <a:avLst/>
          </a:prstGeom>
        </p:spPr>
        <p:txBody>
          <a:bodyPr/>
          <a:lstStyle/>
          <a:p>
            <a:pPr/>
          </a:p>
        </p:txBody>
      </p:sp>
      <p:sp>
        <p:nvSpPr>
          <p:cNvPr id="169" name="Shape 16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3" name="Shape 173"/>
          <p:cNvSpPr/>
          <p:nvPr>
            <p:ph type="sldImg"/>
          </p:nvPr>
        </p:nvSpPr>
        <p:spPr>
          <a:prstGeom prst="rect">
            <a:avLst/>
          </a:prstGeom>
        </p:spPr>
        <p:txBody>
          <a:bodyPr/>
          <a:lstStyle/>
          <a:p>
            <a:pPr/>
          </a:p>
        </p:txBody>
      </p:sp>
      <p:sp>
        <p:nvSpPr>
          <p:cNvPr id="174" name="Shape 174"/>
          <p:cNvSpPr/>
          <p:nvPr>
            <p:ph type="body" sz="quarter" idx="1"/>
          </p:nvPr>
        </p:nvSpPr>
        <p:spPr>
          <a:prstGeom prst="rect">
            <a:avLst/>
          </a:prstGeom>
        </p:spPr>
        <p:txBody>
          <a:bodyPr/>
          <a:lstStyle/>
          <a:p>
            <a:pPr/>
            <a:r>
              <a:t>K-means is an unsupervised algorithm because it groups data points into clusters based on inherent similarities, without using predefined labels or a target feature. The algorithm learns patterns directly from the unlabeled data to form these groups, unlike supervised learning, which requires labeled data for training.</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8" name="Shape 188"/>
          <p:cNvSpPr/>
          <p:nvPr>
            <p:ph type="sldImg"/>
          </p:nvPr>
        </p:nvSpPr>
        <p:spPr>
          <a:prstGeom prst="rect">
            <a:avLst/>
          </a:prstGeom>
        </p:spPr>
        <p:txBody>
          <a:bodyPr/>
          <a:lstStyle/>
          <a:p>
            <a:pPr/>
          </a:p>
        </p:txBody>
      </p:sp>
      <p:sp>
        <p:nvSpPr>
          <p:cNvPr id="189" name="Shape 189"/>
          <p:cNvSpPr/>
          <p:nvPr>
            <p:ph type="body" sz="quarter" idx="1"/>
          </p:nvPr>
        </p:nvSpPr>
        <p:spPr>
          <a:prstGeom prst="rect">
            <a:avLst/>
          </a:prstGeom>
        </p:spPr>
        <p:txBody>
          <a:bodyPr/>
          <a:lstStyle/>
          <a:p>
            <a:pPr/>
            <a:r>
              <a:t>The elbow method is used to determine the optimal number of clusters in k-means clustering. The elbow method plots the value of the cost function produced by different values of k. As you know, if k increases, average variation will decrease, each cluster will have fewer data points, and the data points will be closer to their respective centroids. However, the improvements in average variation will decline as k increases. The value of k at which improvement in distortion declines the most is called the elbow, at which we should stop dividing the data into further clusters.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4" name="Shape 194"/>
          <p:cNvSpPr/>
          <p:nvPr>
            <p:ph type="sldImg"/>
          </p:nvPr>
        </p:nvSpPr>
        <p:spPr>
          <a:prstGeom prst="rect">
            <a:avLst/>
          </a:prstGeom>
        </p:spPr>
        <p:txBody>
          <a:bodyPr/>
          <a:lstStyle/>
          <a:p>
            <a:pPr/>
          </a:p>
        </p:txBody>
      </p:sp>
      <p:sp>
        <p:nvSpPr>
          <p:cNvPr id="195" name="Shape 195"/>
          <p:cNvSpPr/>
          <p:nvPr>
            <p:ph type="body" sz="quarter" idx="1"/>
          </p:nvPr>
        </p:nvSpPr>
        <p:spPr>
          <a:prstGeom prst="rect">
            <a:avLst/>
          </a:prstGeom>
        </p:spPr>
        <p:txBody>
          <a:bodyPr/>
          <a:lstStyle/>
          <a:p>
            <a:pPr/>
            <a:r>
              <a:t>Linear regression is a supervised learning algorithm because it requires a labeled training dataset—one where the correct output (or "label") is provided for each input—to learn the relationship between input variables and the continuous output variable it's trying to predict.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2" name="Shape 202"/>
          <p:cNvSpPr/>
          <p:nvPr>
            <p:ph type="sldImg"/>
          </p:nvPr>
        </p:nvSpPr>
        <p:spPr>
          <a:prstGeom prst="rect">
            <a:avLst/>
          </a:prstGeom>
        </p:spPr>
        <p:txBody>
          <a:bodyPr/>
          <a:lstStyle/>
          <a:p>
            <a:pPr/>
          </a:p>
        </p:txBody>
      </p:sp>
      <p:sp>
        <p:nvSpPr>
          <p:cNvPr id="203" name="Shape 203"/>
          <p:cNvSpPr/>
          <p:nvPr>
            <p:ph type="body" sz="quarter" idx="1"/>
          </p:nvPr>
        </p:nvSpPr>
        <p:spPr>
          <a:prstGeom prst="rect">
            <a:avLst/>
          </a:prstGeom>
        </p:spPr>
        <p:txBody>
          <a:bodyPr/>
          <a:lstStyle/>
          <a:p>
            <a:pPr marL="279400" indent="-279400">
              <a:buSzPct val="123000"/>
              <a:buChar char="-"/>
            </a:pPr>
            <a:r>
              <a:t>y=predicted value</a:t>
            </a:r>
          </a:p>
          <a:p>
            <a:pPr marL="279400" indent="-279400">
              <a:buSzPct val="123000"/>
              <a:buChar char="-"/>
            </a:pPr>
            <a:r>
              <a:t>Beta0 = intercept</a:t>
            </a:r>
          </a:p>
          <a:p>
            <a:pPr marL="279400" indent="-279400">
              <a:buSzPct val="123000"/>
              <a:buChar char="-"/>
            </a:pPr>
            <a:r>
              <a:t>Beta1…n = corresponding coefficients</a:t>
            </a:r>
          </a:p>
          <a:p>
            <a:pPr marL="279400" indent="-279400">
              <a:buSzPct val="123000"/>
              <a:buChar char="-"/>
            </a:pPr>
            <a:r>
              <a:t>X1,x2,…, xn = input features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9" name="Shape 209"/>
          <p:cNvSpPr/>
          <p:nvPr>
            <p:ph type="sldImg"/>
          </p:nvPr>
        </p:nvSpPr>
        <p:spPr>
          <a:prstGeom prst="rect">
            <a:avLst/>
          </a:prstGeom>
        </p:spPr>
        <p:txBody>
          <a:bodyPr/>
          <a:lstStyle/>
          <a:p>
            <a:pPr/>
          </a:p>
        </p:txBody>
      </p:sp>
      <p:sp>
        <p:nvSpPr>
          <p:cNvPr id="210" name="Shape 210"/>
          <p:cNvSpPr/>
          <p:nvPr>
            <p:ph type="body" sz="quarter" idx="1"/>
          </p:nvPr>
        </p:nvSpPr>
        <p:spPr>
          <a:prstGeom prst="rect">
            <a:avLst/>
          </a:prstGeom>
        </p:spPr>
        <p:txBody>
          <a:bodyPr/>
          <a:lstStyle/>
          <a:p>
            <a:pPr/>
            <a:r>
              <a:t>3. MSE quantifies how close a predicted value is to the true value, so we'll use it to quantify how close a regression line is to a set of points. MSE works by squaring the distance between each data point and the regression line (the red residuals in the graphs above), summing the squared values, and then dividing by the number of data points</a:t>
            </a:r>
          </a:p>
          <a:p>
            <a:pPr/>
            <a:r>
              <a:t>The squaring of errors prevents negative and positive terms from canceling out in the sum,[ℹ] and gives more weight to points further from the regression line, punishing outliers. In practice, we'll fit our regression model to a set training data, and evaluate it's performance using MSE on the test dataset.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4" name="Shape 214"/>
          <p:cNvSpPr/>
          <p:nvPr>
            <p:ph type="sldImg"/>
          </p:nvPr>
        </p:nvSpPr>
        <p:spPr>
          <a:prstGeom prst="rect">
            <a:avLst/>
          </a:prstGeom>
        </p:spPr>
        <p:txBody>
          <a:bodyPr/>
          <a:lstStyle/>
          <a:p>
            <a:pPr/>
          </a:p>
        </p:txBody>
      </p:sp>
      <p:sp>
        <p:nvSpPr>
          <p:cNvPr id="215" name="Shape 215"/>
          <p:cNvSpPr/>
          <p:nvPr>
            <p:ph type="body" sz="quarter" idx="1"/>
          </p:nvPr>
        </p:nvSpPr>
        <p:spPr>
          <a:prstGeom prst="rect">
            <a:avLst/>
          </a:prstGeom>
        </p:spPr>
        <p:txBody>
          <a:bodyPr/>
          <a:lstStyle/>
          <a:p>
            <a:pPr marL="279400" indent="-279400">
              <a:buSzPct val="123000"/>
              <a:buChar char="-"/>
            </a:pPr>
            <a:r>
              <a:rPr b="1"/>
              <a:t>Financial Forecasting</a:t>
            </a:r>
            <a:r>
              <a:t>: Financial analysts use MLR to predict stock prices or economic indicators based on multiple influencing factors such as interest rates, inflation rates and market trends. This enables better investment strategies and risk management24.</a:t>
            </a:r>
          </a:p>
          <a:p>
            <a:pPr marL="279400" indent="-279400">
              <a:buSzPct val="123000"/>
              <a:buChar char="-"/>
            </a:pPr>
            <a:r>
              <a:rPr b="1"/>
              <a:t>Real Estate Pricing</a:t>
            </a:r>
            <a:r>
              <a:t>: In real estate MLR is used to predict property prices based on multiple factors such as location, size, number of bedrooms, etc. This helps buyers and sellers understand market trends and set competitive prices.</a:t>
            </a:r>
          </a:p>
          <a:p>
            <a:pPr marL="279400" indent="-279400">
              <a:buSzPct val="123000"/>
              <a:buChar char="-"/>
            </a:pPr>
            <a:r>
              <a:rPr b="1"/>
              <a:t>Sales Analysis</a:t>
            </a:r>
            <a:r>
              <a:t>: An e-commerce company can utilize MLR to assess how various factors such as product price, marketing promotions and seasonal trends impact sales.</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12" name="Presentation Title"/>
          <p:cNvSpPr txBox="1"/>
          <p:nvPr>
            <p:ph type="title" hasCustomPrompt="1"/>
          </p:nvPr>
        </p:nvSpPr>
        <p:spPr>
          <a:xfrm>
            <a:off x="1206496" y="2574991"/>
            <a:ext cx="21971004" cy="4648201"/>
          </a:xfrm>
          <a:prstGeom prst="rect">
            <a:avLst/>
          </a:prstGeom>
        </p:spPr>
        <p:txBody>
          <a:bodyPr anchor="b"/>
          <a:lstStyle>
            <a:lvl1pPr>
              <a:defRPr spc="-232" sz="11600"/>
            </a:lvl1pPr>
          </a:lstStyle>
          <a:p>
            <a:pPr/>
            <a:r>
              <a:t>Presentation Title</a:t>
            </a:r>
          </a:p>
        </p:txBody>
      </p:sp>
      <p:sp>
        <p:nvSpPr>
          <p:cNvPr id="13" name="Body Level One…"/>
          <p:cNvSpPr txBox="1"/>
          <p:nvPr>
            <p:ph type="body" sz="quarter" idx="1" hasCustomPrompt="1"/>
          </p:nvPr>
        </p:nvSpPr>
        <p:spPr>
          <a:xfrm>
            <a:off x="1201342" y="7223190"/>
            <a:ext cx="21971001" cy="1905001"/>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Avocados and limes"/>
          <p:cNvSpPr/>
          <p:nvPr>
            <p:ph type="pic" idx="21"/>
          </p:nvPr>
        </p:nvSpPr>
        <p:spPr>
          <a:xfrm>
            <a:off x="-1155700" y="-1295400"/>
            <a:ext cx="26746200" cy="16018933"/>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1206500" y="7124700"/>
            <a:ext cx="21971000" cy="4648200"/>
          </a:xfrm>
          <a:prstGeom prst="rect">
            <a:avLst/>
          </a:prstGeom>
        </p:spPr>
        <p:txBody>
          <a:bodyPr anchor="b"/>
          <a:lstStyle>
            <a:lvl1pPr>
              <a:defRPr spc="-232" sz="11600"/>
            </a:lvl1pPr>
          </a:lstStyle>
          <a:p>
            <a:pPr/>
            <a:r>
              <a:t>Presentation Title</a:t>
            </a:r>
          </a:p>
        </p:txBody>
      </p:sp>
      <p:sp>
        <p:nvSpPr>
          <p:cNvPr id="23" name="Author and Date"/>
          <p:cNvSpPr txBox="1"/>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24" name="Body Level One…"/>
          <p:cNvSpPr txBox="1"/>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Bowl with salmon cakes, salad, and hummus"/>
          <p:cNvSpPr/>
          <p:nvPr>
            <p:ph type="pic" idx="21"/>
          </p:nvPr>
        </p:nvSpPr>
        <p:spPr>
          <a:xfrm>
            <a:off x="10972800" y="-203200"/>
            <a:ext cx="12144837" cy="14135100"/>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206500" y="1270000"/>
            <a:ext cx="9779000" cy="5882273"/>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prstGeom prst="rect">
            <a:avLst/>
          </a:prstGeom>
        </p:spPr>
        <p:txBody>
          <a:bodyPr/>
          <a:lstStyle/>
          <a:p>
            <a:pPr/>
            <a:r>
              <a:t>Slide Title</a:t>
            </a:r>
          </a:p>
        </p:txBody>
      </p:sp>
      <p:sp>
        <p:nvSpPr>
          <p:cNvPr id="43"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numCol="2" spcCol="1098550"/>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61"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62" name="Bowl of pappardelle pasta with parsley butter, roasted hazelnuts, and shaved parmesan cheese"/>
          <p:cNvSpPr/>
          <p:nvPr>
            <p:ph type="pic" idx="22"/>
          </p:nvPr>
        </p:nvSpPr>
        <p:spPr>
          <a:xfrm>
            <a:off x="12192000" y="-407266"/>
            <a:ext cx="10916874" cy="14555832"/>
          </a:xfrm>
          <a:prstGeom prst="rect">
            <a:avLst/>
          </a:prstGeom>
        </p:spPr>
        <p:txBody>
          <a:bodyPr lIns="91439" tIns="45719" rIns="91439" bIns="45719">
            <a:noAutofit/>
          </a:bodyPr>
          <a:lstStyle/>
          <a:p>
            <a:pPr/>
          </a:p>
        </p:txBody>
      </p:sp>
      <p:sp>
        <p:nvSpPr>
          <p:cNvPr id="6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spTree>
      <p:nvGrpSpPr>
        <p:cNvPr id="1" name=""/>
        <p:cNvGrpSpPr/>
        <p:nvPr/>
      </p:nvGrpSpPr>
      <p:grpSpPr>
        <a:xfrm>
          <a:off x="0" y="0"/>
          <a:ext cx="0" cy="0"/>
          <a:chOff x="0" y="0"/>
          <a:chExt cx="0" cy="0"/>
        </a:xfrm>
      </p:grpSpPr>
      <p:sp>
        <p:nvSpPr>
          <p:cNvPr id="71"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72"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7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spTree>
      <p:nvGrpSpPr>
        <p:cNvPr id="1" name=""/>
        <p:cNvGrpSpPr/>
        <p:nvPr/>
      </p:nvGrpSpPr>
      <p:grpSpPr>
        <a:xfrm>
          <a:off x="0" y="0"/>
          <a:ext cx="0" cy="0"/>
          <a:chOff x="0" y="0"/>
          <a:chExt cx="0" cy="0"/>
        </a:xfrm>
      </p:grpSpPr>
      <p:sp>
        <p:nvSpPr>
          <p:cNvPr id="81"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82"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8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8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91" name="Section Title"/>
          <p:cNvSpPr txBox="1"/>
          <p:nvPr>
            <p:ph type="title" hasCustomPrompt="1"/>
          </p:nvPr>
        </p:nvSpPr>
        <p:spPr>
          <a:xfrm>
            <a:off x="1206496" y="4533900"/>
            <a:ext cx="21971004" cy="4648200"/>
          </a:xfrm>
          <a:prstGeom prst="rect">
            <a:avLst/>
          </a:prstGeom>
        </p:spPr>
        <p:txBody>
          <a:bodyPr anchor="ctr"/>
          <a:lstStyle>
            <a:lvl1pPr>
              <a:defRPr b="0" spc="-232" sz="11600">
                <a:latin typeface="Helvetica Neue Medium"/>
                <a:ea typeface="Helvetica Neue Medium"/>
                <a:cs typeface="Helvetica Neue Medium"/>
                <a:sym typeface="Helvetica Neue Medium"/>
              </a:defRPr>
            </a:lvl1pPr>
          </a:lstStyle>
          <a:p>
            <a:pPr/>
            <a:r>
              <a:t>Section Title</a:t>
            </a:r>
          </a:p>
        </p:txBody>
      </p:sp>
      <p:sp>
        <p:nvSpPr>
          <p:cNvPr id="92"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99" name="Slide Title"/>
          <p:cNvSpPr txBox="1"/>
          <p:nvPr>
            <p:ph type="title" hasCustomPrompt="1"/>
          </p:nvPr>
        </p:nvSpPr>
        <p:spPr>
          <a:xfrm>
            <a:off x="1206500" y="1079500"/>
            <a:ext cx="21971000" cy="1434949"/>
          </a:xfrm>
          <a:prstGeom prst="rect">
            <a:avLst/>
          </a:prstGeom>
        </p:spPr>
        <p:txBody>
          <a:bodyPr/>
          <a:lstStyle/>
          <a:p>
            <a:pPr/>
            <a:r>
              <a:t>Slide Title</a:t>
            </a:r>
          </a:p>
        </p:txBody>
      </p:sp>
      <p:sp>
        <p:nvSpPr>
          <p:cNvPr id="100"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10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108" name="Agenda Title"/>
          <p:cNvSpPr txBox="1"/>
          <p:nvPr>
            <p:ph type="title" hasCustomPrompt="1"/>
          </p:nvPr>
        </p:nvSpPr>
        <p:spPr>
          <a:xfrm>
            <a:off x="1206500" y="1079500"/>
            <a:ext cx="21971000" cy="1435100"/>
          </a:xfrm>
          <a:prstGeom prst="rect">
            <a:avLst/>
          </a:prstGeom>
        </p:spPr>
        <p:txBody>
          <a:bodyPr/>
          <a:lstStyle/>
          <a:p>
            <a:pPr/>
            <a:r>
              <a:t>Agenda Title</a:t>
            </a:r>
          </a:p>
        </p:txBody>
      </p:sp>
      <p:sp>
        <p:nvSpPr>
          <p:cNvPr id="109" name="Agenda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Agenda Subtitle</a:t>
            </a:r>
          </a:p>
        </p:txBody>
      </p:sp>
      <p:sp>
        <p:nvSpPr>
          <p:cNvPr id="110" name="Body Level One…"/>
          <p:cNvSpPr txBox="1"/>
          <p:nvPr>
            <p:ph type="body" idx="1" hasCustomPrompt="1"/>
          </p:nvPr>
        </p:nvSpPr>
        <p:spPr>
          <a:prstGeom prst="rect">
            <a:avLst/>
          </a:prstGeom>
        </p:spPr>
        <p:txBody>
          <a:bodyPr/>
          <a:lstStyle>
            <a:lvl1pPr marL="0" indent="0" defTabSz="825500">
              <a:lnSpc>
                <a:spcPct val="100000"/>
              </a:lnSpc>
              <a:spcBef>
                <a:spcPts val="1800"/>
              </a:spcBef>
              <a:buSzTx/>
              <a:buNone/>
              <a:defRPr spc="-55" sz="5500"/>
            </a:lvl1pPr>
            <a:lvl2pPr marL="0" indent="457200" defTabSz="825500">
              <a:lnSpc>
                <a:spcPct val="100000"/>
              </a:lnSpc>
              <a:spcBef>
                <a:spcPts val="1800"/>
              </a:spcBef>
              <a:buSzTx/>
              <a:buNone/>
              <a:defRPr spc="-55" sz="5500"/>
            </a:lvl2pPr>
            <a:lvl3pPr marL="0" indent="914400" defTabSz="825500">
              <a:lnSpc>
                <a:spcPct val="100000"/>
              </a:lnSpc>
              <a:spcBef>
                <a:spcPts val="1800"/>
              </a:spcBef>
              <a:buSzTx/>
              <a:buNone/>
              <a:defRPr spc="-55" sz="5500"/>
            </a:lvl3pPr>
            <a:lvl4pPr marL="0" indent="1371600" defTabSz="825500">
              <a:lnSpc>
                <a:spcPct val="100000"/>
              </a:lnSpc>
              <a:spcBef>
                <a:spcPts val="1800"/>
              </a:spcBef>
              <a:buSzTx/>
              <a:buNone/>
              <a:defRPr spc="-55" sz="5500"/>
            </a:lvl4pPr>
            <a:lvl5pPr marL="0" indent="1828800" defTabSz="825500">
              <a:lnSpc>
                <a:spcPct val="100000"/>
              </a:lnSpc>
              <a:spcBef>
                <a:spcPts val="1800"/>
              </a:spcBef>
              <a:buSzTx/>
              <a:buNone/>
              <a:defRPr spc="-55" sz="5500"/>
            </a:lvl5pPr>
          </a:lstStyle>
          <a:p>
            <a:pPr/>
            <a:r>
              <a:t>Agenda Topics</a:t>
            </a:r>
          </a:p>
          <a:p>
            <a:pPr lvl="1"/>
            <a:r>
              <a:t/>
            </a:r>
          </a:p>
          <a:p>
            <a:pPr lvl="2"/>
            <a:r>
              <a:t/>
            </a:r>
          </a:p>
          <a:p>
            <a:pPr lvl="3"/>
            <a:r>
              <a:t/>
            </a:r>
          </a:p>
          <a:p>
            <a:pPr lvl="4"/>
            <a:r>
              <a:t/>
            </a:r>
          </a:p>
        </p:txBody>
      </p:sp>
      <p:sp>
        <p:nvSpPr>
          <p:cNvPr id="1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118" name="Body Level One…"/>
          <p:cNvSpPr txBox="1"/>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pc="-232" sz="11600">
                <a:latin typeface="Helvetica Neue Medium"/>
                <a:ea typeface="Helvetica Neue Medium"/>
                <a:cs typeface="Helvetica Neue Medium"/>
                <a:sym typeface="Helvetica Neue Medium"/>
              </a:defRPr>
            </a:lvl1pPr>
            <a:lvl2pPr marL="0" indent="457200" algn="ctr">
              <a:lnSpc>
                <a:spcPct val="80000"/>
              </a:lnSpc>
              <a:spcBef>
                <a:spcPts val="0"/>
              </a:spcBef>
              <a:buSzTx/>
              <a:buNone/>
              <a:defRPr spc="-232" sz="11600">
                <a:latin typeface="Helvetica Neue Medium"/>
                <a:ea typeface="Helvetica Neue Medium"/>
                <a:cs typeface="Helvetica Neue Medium"/>
                <a:sym typeface="Helvetica Neue Medium"/>
              </a:defRPr>
            </a:lvl2pPr>
            <a:lvl3pPr marL="0" indent="914400" algn="ctr">
              <a:lnSpc>
                <a:spcPct val="80000"/>
              </a:lnSpc>
              <a:spcBef>
                <a:spcPts val="0"/>
              </a:spcBef>
              <a:buSzTx/>
              <a:buNone/>
              <a:defRPr spc="-232" sz="11600">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pc="-232" sz="11600">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pc="-232" sz="11600">
                <a:latin typeface="Helvetica Neue Medium"/>
                <a:ea typeface="Helvetica Neue Medium"/>
                <a:cs typeface="Helvetica Neue Medium"/>
                <a:sym typeface="Helvetica Neue Medium"/>
              </a:defRPr>
            </a:lvl5pPr>
          </a:lstStyle>
          <a:p>
            <a:pPr/>
            <a:r>
              <a:t>Statement</a:t>
            </a:r>
          </a:p>
          <a:p>
            <a:pPr lvl="1"/>
            <a:r>
              <a:t/>
            </a:r>
          </a:p>
          <a:p>
            <a:pPr lvl="2"/>
            <a:r>
              <a:t/>
            </a:r>
          </a:p>
          <a:p>
            <a:pPr lvl="3"/>
            <a:r>
              <a:t/>
            </a:r>
          </a:p>
          <a:p>
            <a:pPr lvl="4"/>
            <a:r>
              <a:t/>
            </a:r>
          </a:p>
        </p:txBody>
      </p:sp>
      <p:sp>
        <p:nvSpPr>
          <p:cNvPr id="11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26" name="Body Level One…"/>
          <p:cNvSpPr txBox="1"/>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b="1" spc="-250" sz="25000"/>
            </a:lvl1pPr>
            <a:lvl2pPr marL="0" indent="457200" algn="ctr">
              <a:lnSpc>
                <a:spcPct val="80000"/>
              </a:lnSpc>
              <a:spcBef>
                <a:spcPts val="0"/>
              </a:spcBef>
              <a:buSzTx/>
              <a:buNone/>
              <a:defRPr b="1" spc="-250" sz="25000"/>
            </a:lvl2pPr>
            <a:lvl3pPr marL="0" indent="914400" algn="ctr">
              <a:lnSpc>
                <a:spcPct val="80000"/>
              </a:lnSpc>
              <a:spcBef>
                <a:spcPts val="0"/>
              </a:spcBef>
              <a:buSzTx/>
              <a:buNone/>
              <a:defRPr b="1" spc="-250" sz="25000"/>
            </a:lvl3pPr>
            <a:lvl4pPr marL="0" indent="1371600" algn="ctr">
              <a:lnSpc>
                <a:spcPct val="80000"/>
              </a:lnSpc>
              <a:spcBef>
                <a:spcPts val="0"/>
              </a:spcBef>
              <a:buSzTx/>
              <a:buNone/>
              <a:defRPr b="1" spc="-250" sz="25000"/>
            </a:lvl4pPr>
            <a:lvl5pPr marL="0" indent="1828800" algn="ctr">
              <a:lnSpc>
                <a:spcPct val="80000"/>
              </a:lnSpc>
              <a:spcBef>
                <a:spcPts val="0"/>
              </a:spcBef>
              <a:buSzTx/>
              <a:buNone/>
              <a:defRPr b="1" spc="-250" sz="25000"/>
            </a:lvl5pPr>
          </a:lstStyle>
          <a:p>
            <a:pPr/>
            <a:r>
              <a:t>100%</a:t>
            </a:r>
          </a:p>
          <a:p>
            <a:pPr lvl="1"/>
            <a:r>
              <a:t/>
            </a:r>
          </a:p>
          <a:p>
            <a:pPr lvl="2"/>
            <a:r>
              <a:t/>
            </a:r>
          </a:p>
          <a:p>
            <a:pPr lvl="3"/>
            <a:r>
              <a:t/>
            </a:r>
          </a:p>
          <a:p>
            <a:pPr lvl="4"/>
            <a:r>
              <a:t/>
            </a:r>
          </a:p>
        </p:txBody>
      </p:sp>
      <p:sp>
        <p:nvSpPr>
          <p:cNvPr id="127" name="Fact information"/>
          <p:cNvSpPr txBox="1"/>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b="1" sz="5500"/>
            </a:lvl1pPr>
          </a:lstStyle>
          <a:p>
            <a:pPr/>
            <a:r>
              <a:t>Fact information</a:t>
            </a:r>
          </a:p>
        </p:txBody>
      </p:sp>
      <p:sp>
        <p:nvSpPr>
          <p:cNvPr id="1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35" name="Attribution"/>
          <p:cNvSpPr txBox="1"/>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Attribution</a:t>
            </a:r>
          </a:p>
        </p:txBody>
      </p:sp>
      <p:sp>
        <p:nvSpPr>
          <p:cNvPr id="136" name="Body Level One…"/>
          <p:cNvSpPr txBox="1"/>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pc="-170" sz="8500">
                <a:latin typeface="Helvetica Neue Medium"/>
                <a:ea typeface="Helvetica Neue Medium"/>
                <a:cs typeface="Helvetica Neue Medium"/>
                <a:sym typeface="Helvetica Neue Medium"/>
              </a:defRPr>
            </a:lvl1pPr>
            <a:lvl2pPr marL="638923" indent="-12700">
              <a:spcBef>
                <a:spcPts val="0"/>
              </a:spcBef>
              <a:buSzTx/>
              <a:buNone/>
              <a:defRPr spc="-170" sz="8500">
                <a:latin typeface="Helvetica Neue Medium"/>
                <a:ea typeface="Helvetica Neue Medium"/>
                <a:cs typeface="Helvetica Neue Medium"/>
                <a:sym typeface="Helvetica Neue Medium"/>
              </a:defRPr>
            </a:lvl2pPr>
            <a:lvl3pPr marL="638923" indent="444500">
              <a:spcBef>
                <a:spcPts val="0"/>
              </a:spcBef>
              <a:buSzTx/>
              <a:buNone/>
              <a:defRPr spc="-170" sz="8500">
                <a:latin typeface="Helvetica Neue Medium"/>
                <a:ea typeface="Helvetica Neue Medium"/>
                <a:cs typeface="Helvetica Neue Medium"/>
                <a:sym typeface="Helvetica Neue Medium"/>
              </a:defRPr>
            </a:lvl3pPr>
            <a:lvl4pPr marL="638923" indent="901700">
              <a:spcBef>
                <a:spcPts val="0"/>
              </a:spcBef>
              <a:buSzTx/>
              <a:buNone/>
              <a:defRPr spc="-170" sz="8500">
                <a:latin typeface="Helvetica Neue Medium"/>
                <a:ea typeface="Helvetica Neue Medium"/>
                <a:cs typeface="Helvetica Neue Medium"/>
                <a:sym typeface="Helvetica Neue Medium"/>
              </a:defRPr>
            </a:lvl4pPr>
            <a:lvl5pPr marL="638923" indent="1358900">
              <a:spcBef>
                <a:spcPts val="0"/>
              </a:spcBef>
              <a:buSzTx/>
              <a:buNone/>
              <a:defRPr spc="-170" sz="8500">
                <a:latin typeface="Helvetica Neue Medium"/>
                <a:ea typeface="Helvetica Neue Medium"/>
                <a:cs typeface="Helvetica Neue Medium"/>
                <a:sym typeface="Helvetica Neue Medium"/>
              </a:defRPr>
            </a:lvl5pPr>
          </a:lstStyle>
          <a:p>
            <a:pPr/>
            <a:r>
              <a:t>“Notable Quote”</a:t>
            </a:r>
          </a:p>
          <a:p>
            <a:pPr lvl="1"/>
            <a:r>
              <a:t/>
            </a:r>
          </a:p>
          <a:p>
            <a:pPr lvl="2"/>
            <a:r>
              <a:t/>
            </a:r>
          </a:p>
          <a:p>
            <a:pPr lvl="3"/>
            <a:r>
              <a:t/>
            </a:r>
          </a:p>
          <a:p>
            <a:pPr lvl="4"/>
            <a:r>
              <a:t/>
            </a:r>
          </a:p>
        </p:txBody>
      </p:sp>
      <p:sp>
        <p:nvSpPr>
          <p:cNvPr id="1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44" name="Bowl of salad with fried rice, boiled eggs, and chopsticks"/>
          <p:cNvSpPr/>
          <p:nvPr>
            <p:ph type="pic" sz="quarter" idx="21"/>
          </p:nvPr>
        </p:nvSpPr>
        <p:spPr>
          <a:xfrm>
            <a:off x="15760700" y="1016000"/>
            <a:ext cx="7439099" cy="5949678"/>
          </a:xfrm>
          <a:prstGeom prst="rect">
            <a:avLst/>
          </a:prstGeom>
        </p:spPr>
        <p:txBody>
          <a:bodyPr lIns="91439" tIns="45719" rIns="91439" bIns="45719">
            <a:noAutofit/>
          </a:bodyPr>
          <a:lstStyle/>
          <a:p>
            <a:pPr/>
          </a:p>
        </p:txBody>
      </p:sp>
      <p:sp>
        <p:nvSpPr>
          <p:cNvPr id="145" name="Bowl with salmon cakes, salad, and hummus "/>
          <p:cNvSpPr/>
          <p:nvPr>
            <p:ph type="pic" sz="half" idx="22"/>
          </p:nvPr>
        </p:nvSpPr>
        <p:spPr>
          <a:xfrm>
            <a:off x="13500100" y="3978275"/>
            <a:ext cx="10439400" cy="12150181"/>
          </a:xfrm>
          <a:prstGeom prst="rect">
            <a:avLst/>
          </a:prstGeom>
        </p:spPr>
        <p:txBody>
          <a:bodyPr lIns="91439" tIns="45719" rIns="91439" bIns="45719">
            <a:noAutofit/>
          </a:bodyPr>
          <a:lstStyle/>
          <a:p>
            <a:pPr/>
          </a:p>
        </p:txBody>
      </p:sp>
      <p:sp>
        <p:nvSpPr>
          <p:cNvPr id="146" name="Bowl of pappardelle pasta with parsley butter, roasted hazelnuts, and shaved parmesan cheese"/>
          <p:cNvSpPr/>
          <p:nvPr>
            <p:ph type="pic" idx="23"/>
          </p:nvPr>
        </p:nvSpPr>
        <p:spPr>
          <a:xfrm>
            <a:off x="-139700" y="495300"/>
            <a:ext cx="16611600" cy="12458700"/>
          </a:xfrm>
          <a:prstGeom prst="rect">
            <a:avLst/>
          </a:prstGeom>
        </p:spPr>
        <p:txBody>
          <a:bodyPr lIns="91439" tIns="45719" rIns="91439" bIns="45719">
            <a:noAutofit/>
          </a:bodyPr>
          <a:lstStyle/>
          <a:p>
            <a:pPr/>
          </a:p>
        </p:txBody>
      </p:sp>
      <p:sp>
        <p:nvSpPr>
          <p:cNvPr id="14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54" name="bowl of salad with fried rice, boiled eggs, and chopsticks"/>
          <p:cNvSpPr/>
          <p:nvPr>
            <p:ph type="pic" idx="21"/>
          </p:nvPr>
        </p:nvSpPr>
        <p:spPr>
          <a:xfrm>
            <a:off x="-1333500" y="-5524500"/>
            <a:ext cx="27051000" cy="21640800"/>
          </a:xfrm>
          <a:prstGeom prst="rect">
            <a:avLst/>
          </a:prstGeom>
        </p:spPr>
        <p:txBody>
          <a:bodyPr lIns="91439" tIns="45719" rIns="91439" bIns="45719">
            <a:noAutofit/>
          </a:bodyPr>
          <a:lstStyle/>
          <a:p>
            <a:pPr/>
          </a:p>
        </p:txBody>
      </p:sp>
      <p:sp>
        <p:nvSpPr>
          <p:cNvPr id="15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6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8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transition xmlns:p14="http://schemas.microsoft.com/office/powerpoint/2010/main" spd="med" advClick="1"/>
  <p:txStyles>
    <p:titleStyle>
      <a:lvl1pPr marL="0" marR="0" indent="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K-Means Clustering"/>
          <p:cNvSpPr txBox="1"/>
          <p:nvPr>
            <p:ph type="ctrTitle"/>
          </p:nvPr>
        </p:nvSpPr>
        <p:spPr>
          <a:prstGeom prst="rect">
            <a:avLst/>
          </a:prstGeom>
        </p:spPr>
        <p:txBody>
          <a:bodyPr/>
          <a:lstStyle/>
          <a:p>
            <a:pPr/>
            <a:r>
              <a:t>K-Means Clustering</a:t>
            </a:r>
          </a:p>
        </p:txBody>
      </p:sp>
      <p:sp>
        <p:nvSpPr>
          <p:cNvPr id="172" name="A unsupervised learning algorithm"/>
          <p:cNvSpPr txBox="1"/>
          <p:nvPr>
            <p:ph type="subTitle" sz="quarter" idx="1"/>
          </p:nvPr>
        </p:nvSpPr>
        <p:spPr>
          <a:prstGeom prst="rect">
            <a:avLst/>
          </a:prstGeom>
        </p:spPr>
        <p:txBody>
          <a:bodyPr/>
          <a:lstStyle/>
          <a:p>
            <a:pPr/>
            <a:r>
              <a:t>A unsupervised learning algorithm</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6" name="K-Means Clustering Algorithm"/>
          <p:cNvSpPr txBox="1"/>
          <p:nvPr>
            <p:ph type="title"/>
          </p:nvPr>
        </p:nvSpPr>
        <p:spPr>
          <a:prstGeom prst="rect">
            <a:avLst/>
          </a:prstGeom>
        </p:spPr>
        <p:txBody>
          <a:bodyPr/>
          <a:lstStyle>
            <a:lvl1pPr defTabSz="1828754">
              <a:defRPr spc="-174" sz="8700"/>
            </a:lvl1pPr>
          </a:lstStyle>
          <a:p>
            <a:pPr/>
            <a:r>
              <a:t>K-Means Clustering Algorithm</a:t>
            </a:r>
          </a:p>
        </p:txBody>
      </p:sp>
      <p:sp>
        <p:nvSpPr>
          <p:cNvPr id="177" name="Select the number of clusters (K)…"/>
          <p:cNvSpPr txBox="1"/>
          <p:nvPr>
            <p:ph type="body" idx="1"/>
          </p:nvPr>
        </p:nvSpPr>
        <p:spPr>
          <a:xfrm>
            <a:off x="1206500" y="3762755"/>
            <a:ext cx="21971000" cy="9227510"/>
          </a:xfrm>
          <a:prstGeom prst="rect">
            <a:avLst/>
          </a:prstGeom>
        </p:spPr>
        <p:txBody>
          <a:bodyPr/>
          <a:lstStyle/>
          <a:p>
            <a:pPr marL="782319" indent="-782319" defTabSz="2145738">
              <a:lnSpc>
                <a:spcPct val="120000"/>
              </a:lnSpc>
              <a:spcBef>
                <a:spcPts val="2600"/>
              </a:spcBef>
              <a:buSzPct val="100000"/>
              <a:buAutoNum type="arabicPeriod" startAt="1"/>
              <a:defRPr sz="4224"/>
            </a:pPr>
            <a:r>
              <a:t>Select the number of clusters (K)</a:t>
            </a:r>
          </a:p>
          <a:p>
            <a:pPr marL="782319" indent="-782319" defTabSz="2145738">
              <a:lnSpc>
                <a:spcPct val="120000"/>
              </a:lnSpc>
              <a:spcBef>
                <a:spcPts val="2600"/>
              </a:spcBef>
              <a:buSzPct val="100000"/>
              <a:buAutoNum type="arabicPeriod" startAt="1"/>
              <a:defRPr sz="4224"/>
            </a:pPr>
            <a:r>
              <a:t>Randomly choose K initial cluster centres</a:t>
            </a:r>
          </a:p>
          <a:p>
            <a:pPr marL="782319" indent="-782319" defTabSz="2145738">
              <a:lnSpc>
                <a:spcPct val="120000"/>
              </a:lnSpc>
              <a:spcBef>
                <a:spcPts val="2600"/>
              </a:spcBef>
              <a:buSzPct val="100000"/>
              <a:buAutoNum type="arabicPeriod" startAt="1"/>
              <a:defRPr sz="4224"/>
            </a:pPr>
            <a:r>
              <a:t>Measure the distance between the 1st point and the K initial cluster centres</a:t>
            </a:r>
          </a:p>
          <a:p>
            <a:pPr marL="782319" indent="-782319" defTabSz="2145738">
              <a:lnSpc>
                <a:spcPct val="120000"/>
              </a:lnSpc>
              <a:spcBef>
                <a:spcPts val="2600"/>
              </a:spcBef>
              <a:buSzPct val="100000"/>
              <a:buAutoNum type="arabicPeriod" startAt="1"/>
              <a:defRPr sz="4224"/>
            </a:pPr>
            <a:r>
              <a:t>Assign the 1st point to the nearest centroids</a:t>
            </a:r>
          </a:p>
          <a:p>
            <a:pPr marL="782319" indent="-782319" defTabSz="2145738">
              <a:lnSpc>
                <a:spcPct val="120000"/>
              </a:lnSpc>
              <a:spcBef>
                <a:spcPts val="2600"/>
              </a:spcBef>
              <a:buSzPct val="100000"/>
              <a:buAutoNum type="arabicPeriod" startAt="1"/>
              <a:defRPr sz="4224"/>
            </a:pPr>
            <a:r>
              <a:t>Repeat step 3-4 for other data points</a:t>
            </a:r>
          </a:p>
          <a:p>
            <a:pPr marL="782319" indent="-782319" defTabSz="2145738">
              <a:lnSpc>
                <a:spcPct val="120000"/>
              </a:lnSpc>
              <a:spcBef>
                <a:spcPts val="2600"/>
              </a:spcBef>
              <a:buSzPct val="100000"/>
              <a:buAutoNum type="arabicPeriod" startAt="1"/>
              <a:defRPr sz="4224"/>
            </a:pPr>
            <a:r>
              <a:t>Calculate the mean of each clusters</a:t>
            </a:r>
          </a:p>
          <a:p>
            <a:pPr marL="782319" indent="-782319" defTabSz="2145738">
              <a:lnSpc>
                <a:spcPct val="120000"/>
              </a:lnSpc>
              <a:spcBef>
                <a:spcPts val="2600"/>
              </a:spcBef>
              <a:buSzPct val="100000"/>
              <a:buAutoNum type="arabicPeriod" startAt="1"/>
              <a:defRPr sz="4224"/>
            </a:pPr>
            <a:r>
              <a:t>Update centroids as mean of assigned points</a:t>
            </a:r>
          </a:p>
          <a:p>
            <a:pPr marL="782319" indent="-782319" defTabSz="2145738">
              <a:lnSpc>
                <a:spcPct val="120000"/>
              </a:lnSpc>
              <a:spcBef>
                <a:spcPts val="2600"/>
              </a:spcBef>
              <a:buSzPct val="100000"/>
              <a:buAutoNum type="arabicPeriod" startAt="1"/>
              <a:defRPr sz="4224"/>
            </a:pPr>
            <a:r>
              <a:t>Repeat the above steps by keep re-clustering and recalculating the mean of each cluster until it finds the best possible value of K</a:t>
            </a:r>
          </a:p>
        </p:txBody>
      </p:sp>
      <p:sp>
        <p:nvSpPr>
          <p:cNvPr id="178" name="K"/>
          <p:cNvSpPr txBox="1"/>
          <p:nvPr/>
        </p:nvSpPr>
        <p:spPr>
          <a:xfrm>
            <a:off x="1206500" y="1079500"/>
            <a:ext cx="1009242"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defTabSz="1828754">
              <a:lnSpc>
                <a:spcPct val="80000"/>
              </a:lnSpc>
              <a:spcBef>
                <a:spcPts val="0"/>
              </a:spcBef>
              <a:defRPr b="1" spc="-174" sz="8700">
                <a:solidFill>
                  <a:schemeClr val="accent5">
                    <a:hueOff val="-82419"/>
                    <a:satOff val="-9513"/>
                    <a:lumOff val="-16343"/>
                  </a:schemeClr>
                </a:solidFill>
              </a:defRPr>
            </a:lvl1pPr>
          </a:lstStyle>
          <a:p>
            <a:pPr/>
            <a:r>
              <a:t>K</a:t>
            </a:r>
          </a:p>
        </p:txBody>
      </p:sp>
      <p:sp>
        <p:nvSpPr>
          <p:cNvPr id="179" name="👆# of clusters"/>
          <p:cNvSpPr txBox="1"/>
          <p:nvPr/>
        </p:nvSpPr>
        <p:spPr>
          <a:xfrm>
            <a:off x="1206500" y="2372962"/>
            <a:ext cx="9779000" cy="934780"/>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defTabSz="767715">
              <a:lnSpc>
                <a:spcPct val="100000"/>
              </a:lnSpc>
              <a:spcBef>
                <a:spcPts val="0"/>
              </a:spcBef>
              <a:defRPr b="1" sz="5115"/>
            </a:pPr>
            <a:r>
              <a:t>👆</a:t>
            </a:r>
            <a:r>
              <a:rPr>
                <a:solidFill>
                  <a:schemeClr val="accent5">
                    <a:hueOff val="-82419"/>
                    <a:satOff val="-9513"/>
                    <a:lumOff val="-16343"/>
                  </a:schemeClr>
                </a:solidFill>
              </a:rPr>
              <a:t># of clusters</a:t>
            </a:r>
          </a:p>
        </p:txBody>
      </p:sp>
    </p:spTree>
  </p:cSld>
  <p:clrMapOvr>
    <a:masterClrMapping/>
  </p:clrMapOvr>
  <mc:AlternateContent xmlns:mc="http://schemas.openxmlformats.org/markup-compatibility/2006">
    <mc:Choice xmlns:p14="http://schemas.microsoft.com/office/powerpoint/2010/main" Requires="p14">
      <p:transition spd="fast" advClick="1" p14:dur="750">
        <p:push dir="l"/>
      </p:transition>
    </mc:Choice>
    <mc:Fallback>
      <p:transition spd="fast">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7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79"/>
                                        </p:tgtEl>
                                        <p:attrNameLst>
                                          <p:attrName>style.visibility</p:attrName>
                                        </p:attrNameLst>
                                      </p:cBhvr>
                                      <p:to>
                                        <p:strVal val="visible"/>
                                      </p:to>
                                    </p:set>
                                    <p:animEffect filter="fade" transition="in">
                                      <p:cBhvr>
                                        <p:cTn id="11" dur="1000"/>
                                        <p:tgtEl>
                                          <p:spTgt spid="179"/>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32" presetID="4" grpId="3" fill="hold">
                                  <p:stCondLst>
                                    <p:cond delay="0"/>
                                  </p:stCondLst>
                                  <p:iterate type="el" backwards="0">
                                    <p:tmAbs val="0"/>
                                  </p:iterate>
                                  <p:childTnLst>
                                    <p:set>
                                      <p:cBhvr>
                                        <p:cTn id="15" fill="hold"/>
                                        <p:tgtEl>
                                          <p:spTgt spid="177">
                                            <p:bg/>
                                          </p:spTgt>
                                        </p:tgtEl>
                                        <p:attrNameLst>
                                          <p:attrName>style.visibility</p:attrName>
                                        </p:attrNameLst>
                                      </p:cBhvr>
                                      <p:to>
                                        <p:strVal val="visible"/>
                                      </p:to>
                                    </p:set>
                                    <p:animEffect filter="box(out)" transition="in">
                                      <p:cBhvr>
                                        <p:cTn id="16" dur="1000"/>
                                        <p:tgtEl>
                                          <p:spTgt spid="177">
                                            <p:bg/>
                                          </p:spTgt>
                                        </p:tgtEl>
                                      </p:cBhvr>
                                    </p:animEffect>
                                  </p:childTnLst>
                                </p:cTn>
                              </p:par>
                              <p:par>
                                <p:cTn id="17" presetClass="entr" nodeType="withEffect" presetSubtype="32" presetID="4" grpId="3" fill="hold">
                                  <p:stCondLst>
                                    <p:cond delay="0"/>
                                  </p:stCondLst>
                                  <p:iterate type="el" backwards="0">
                                    <p:tmAbs val="0"/>
                                  </p:iterate>
                                  <p:childTnLst>
                                    <p:set>
                                      <p:cBhvr>
                                        <p:cTn id="18" fill="hold"/>
                                        <p:tgtEl>
                                          <p:spTgt spid="177">
                                            <p:txEl>
                                              <p:pRg st="0" end="0"/>
                                            </p:txEl>
                                          </p:spTgt>
                                        </p:tgtEl>
                                        <p:attrNameLst>
                                          <p:attrName>style.visibility</p:attrName>
                                        </p:attrNameLst>
                                      </p:cBhvr>
                                      <p:to>
                                        <p:strVal val="visible"/>
                                      </p:to>
                                    </p:set>
                                    <p:animEffect filter="box(out)" transition="in">
                                      <p:cBhvr>
                                        <p:cTn id="19" dur="1000"/>
                                        <p:tgtEl>
                                          <p:spTgt spid="177">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Class="entr" nodeType="clickEffect" presetSubtype="32" presetID="4" grpId="3" fill="hold">
                                  <p:stCondLst>
                                    <p:cond delay="0"/>
                                  </p:stCondLst>
                                  <p:iterate type="el" backwards="0">
                                    <p:tmAbs val="0"/>
                                  </p:iterate>
                                  <p:childTnLst>
                                    <p:set>
                                      <p:cBhvr>
                                        <p:cTn id="23" fill="hold"/>
                                        <p:tgtEl>
                                          <p:spTgt spid="177">
                                            <p:txEl>
                                              <p:pRg st="1" end="1"/>
                                            </p:txEl>
                                          </p:spTgt>
                                        </p:tgtEl>
                                        <p:attrNameLst>
                                          <p:attrName>style.visibility</p:attrName>
                                        </p:attrNameLst>
                                      </p:cBhvr>
                                      <p:to>
                                        <p:strVal val="visible"/>
                                      </p:to>
                                    </p:set>
                                    <p:animEffect filter="box(out)" transition="in">
                                      <p:cBhvr>
                                        <p:cTn id="24" dur="1000"/>
                                        <p:tgtEl>
                                          <p:spTgt spid="177">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Class="entr" nodeType="clickEffect" presetSubtype="32" presetID="4" grpId="3" fill="hold">
                                  <p:stCondLst>
                                    <p:cond delay="0"/>
                                  </p:stCondLst>
                                  <p:iterate type="el" backwards="0">
                                    <p:tmAbs val="0"/>
                                  </p:iterate>
                                  <p:childTnLst>
                                    <p:set>
                                      <p:cBhvr>
                                        <p:cTn id="28" fill="hold"/>
                                        <p:tgtEl>
                                          <p:spTgt spid="177">
                                            <p:txEl>
                                              <p:pRg st="2" end="2"/>
                                            </p:txEl>
                                          </p:spTgt>
                                        </p:tgtEl>
                                        <p:attrNameLst>
                                          <p:attrName>style.visibility</p:attrName>
                                        </p:attrNameLst>
                                      </p:cBhvr>
                                      <p:to>
                                        <p:strVal val="visible"/>
                                      </p:to>
                                    </p:set>
                                    <p:animEffect filter="box(out)" transition="in">
                                      <p:cBhvr>
                                        <p:cTn id="29" dur="1000"/>
                                        <p:tgtEl>
                                          <p:spTgt spid="177">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Class="entr" nodeType="clickEffect" presetSubtype="32" presetID="4" grpId="3" fill="hold">
                                  <p:stCondLst>
                                    <p:cond delay="0"/>
                                  </p:stCondLst>
                                  <p:iterate type="el" backwards="0">
                                    <p:tmAbs val="0"/>
                                  </p:iterate>
                                  <p:childTnLst>
                                    <p:set>
                                      <p:cBhvr>
                                        <p:cTn id="33" fill="hold"/>
                                        <p:tgtEl>
                                          <p:spTgt spid="177">
                                            <p:txEl>
                                              <p:pRg st="3" end="3"/>
                                            </p:txEl>
                                          </p:spTgt>
                                        </p:tgtEl>
                                        <p:attrNameLst>
                                          <p:attrName>style.visibility</p:attrName>
                                        </p:attrNameLst>
                                      </p:cBhvr>
                                      <p:to>
                                        <p:strVal val="visible"/>
                                      </p:to>
                                    </p:set>
                                    <p:animEffect filter="box(out)" transition="in">
                                      <p:cBhvr>
                                        <p:cTn id="34" dur="1000"/>
                                        <p:tgtEl>
                                          <p:spTgt spid="177">
                                            <p:txEl>
                                              <p:pRg st="3" end="3"/>
                                            </p:txEl>
                                          </p:spTgt>
                                        </p:tgtEl>
                                      </p:cBhvr>
                                    </p:animEffect>
                                  </p:childTnLst>
                                </p:cTn>
                              </p:par>
                            </p:childTnLst>
                          </p:cTn>
                        </p:par>
                      </p:childTnLst>
                    </p:cTn>
                  </p:par>
                  <p:par>
                    <p:cTn id="35" fill="hold">
                      <p:stCondLst>
                        <p:cond delay="indefinite"/>
                      </p:stCondLst>
                      <p:childTnLst>
                        <p:par>
                          <p:cTn id="36" fill="hold">
                            <p:stCondLst>
                              <p:cond delay="0"/>
                            </p:stCondLst>
                            <p:childTnLst>
                              <p:par>
                                <p:cTn id="37" presetClass="entr" nodeType="clickEffect" presetSubtype="32" presetID="4" grpId="3" fill="hold">
                                  <p:stCondLst>
                                    <p:cond delay="0"/>
                                  </p:stCondLst>
                                  <p:iterate type="el" backwards="0">
                                    <p:tmAbs val="0"/>
                                  </p:iterate>
                                  <p:childTnLst>
                                    <p:set>
                                      <p:cBhvr>
                                        <p:cTn id="38" fill="hold"/>
                                        <p:tgtEl>
                                          <p:spTgt spid="177">
                                            <p:txEl>
                                              <p:pRg st="4" end="4"/>
                                            </p:txEl>
                                          </p:spTgt>
                                        </p:tgtEl>
                                        <p:attrNameLst>
                                          <p:attrName>style.visibility</p:attrName>
                                        </p:attrNameLst>
                                      </p:cBhvr>
                                      <p:to>
                                        <p:strVal val="visible"/>
                                      </p:to>
                                    </p:set>
                                    <p:animEffect filter="box(out)" transition="in">
                                      <p:cBhvr>
                                        <p:cTn id="39" dur="1000"/>
                                        <p:tgtEl>
                                          <p:spTgt spid="177">
                                            <p:txEl>
                                              <p:pRg st="4" end="4"/>
                                            </p:txEl>
                                          </p:spTgt>
                                        </p:tgtEl>
                                      </p:cBhvr>
                                    </p:animEffect>
                                  </p:childTnLst>
                                </p:cTn>
                              </p:par>
                            </p:childTnLst>
                          </p:cTn>
                        </p:par>
                      </p:childTnLst>
                    </p:cTn>
                  </p:par>
                  <p:par>
                    <p:cTn id="40" fill="hold">
                      <p:stCondLst>
                        <p:cond delay="indefinite"/>
                      </p:stCondLst>
                      <p:childTnLst>
                        <p:par>
                          <p:cTn id="41" fill="hold">
                            <p:stCondLst>
                              <p:cond delay="0"/>
                            </p:stCondLst>
                            <p:childTnLst>
                              <p:par>
                                <p:cTn id="42" presetClass="entr" nodeType="clickEffect" presetSubtype="32" presetID="4" grpId="3" fill="hold">
                                  <p:stCondLst>
                                    <p:cond delay="0"/>
                                  </p:stCondLst>
                                  <p:iterate type="el" backwards="0">
                                    <p:tmAbs val="0"/>
                                  </p:iterate>
                                  <p:childTnLst>
                                    <p:set>
                                      <p:cBhvr>
                                        <p:cTn id="43" fill="hold"/>
                                        <p:tgtEl>
                                          <p:spTgt spid="177">
                                            <p:txEl>
                                              <p:pRg st="5" end="5"/>
                                            </p:txEl>
                                          </p:spTgt>
                                        </p:tgtEl>
                                        <p:attrNameLst>
                                          <p:attrName>style.visibility</p:attrName>
                                        </p:attrNameLst>
                                      </p:cBhvr>
                                      <p:to>
                                        <p:strVal val="visible"/>
                                      </p:to>
                                    </p:set>
                                    <p:animEffect filter="box(out)" transition="in">
                                      <p:cBhvr>
                                        <p:cTn id="44" dur="1000"/>
                                        <p:tgtEl>
                                          <p:spTgt spid="177">
                                            <p:txEl>
                                              <p:pRg st="5" end="5"/>
                                            </p:txEl>
                                          </p:spTgt>
                                        </p:tgtEl>
                                      </p:cBhvr>
                                    </p:animEffect>
                                  </p:childTnLst>
                                </p:cTn>
                              </p:par>
                            </p:childTnLst>
                          </p:cTn>
                        </p:par>
                      </p:childTnLst>
                    </p:cTn>
                  </p:par>
                  <p:par>
                    <p:cTn id="45" fill="hold">
                      <p:stCondLst>
                        <p:cond delay="indefinite"/>
                      </p:stCondLst>
                      <p:childTnLst>
                        <p:par>
                          <p:cTn id="46" fill="hold">
                            <p:stCondLst>
                              <p:cond delay="0"/>
                            </p:stCondLst>
                            <p:childTnLst>
                              <p:par>
                                <p:cTn id="47" presetClass="entr" nodeType="clickEffect" presetSubtype="32" presetID="4" grpId="3" fill="hold">
                                  <p:stCondLst>
                                    <p:cond delay="0"/>
                                  </p:stCondLst>
                                  <p:iterate type="el" backwards="0">
                                    <p:tmAbs val="0"/>
                                  </p:iterate>
                                  <p:childTnLst>
                                    <p:set>
                                      <p:cBhvr>
                                        <p:cTn id="48" fill="hold"/>
                                        <p:tgtEl>
                                          <p:spTgt spid="177">
                                            <p:txEl>
                                              <p:pRg st="6" end="6"/>
                                            </p:txEl>
                                          </p:spTgt>
                                        </p:tgtEl>
                                        <p:attrNameLst>
                                          <p:attrName>style.visibility</p:attrName>
                                        </p:attrNameLst>
                                      </p:cBhvr>
                                      <p:to>
                                        <p:strVal val="visible"/>
                                      </p:to>
                                    </p:set>
                                    <p:animEffect filter="box(out)" transition="in">
                                      <p:cBhvr>
                                        <p:cTn id="49" dur="1000"/>
                                        <p:tgtEl>
                                          <p:spTgt spid="177">
                                            <p:txEl>
                                              <p:pRg st="6" end="6"/>
                                            </p:txEl>
                                          </p:spTgt>
                                        </p:tgtEl>
                                      </p:cBhvr>
                                    </p:animEffect>
                                  </p:childTnLst>
                                </p:cTn>
                              </p:par>
                            </p:childTnLst>
                          </p:cTn>
                        </p:par>
                      </p:childTnLst>
                    </p:cTn>
                  </p:par>
                  <p:par>
                    <p:cTn id="50" fill="hold">
                      <p:stCondLst>
                        <p:cond delay="indefinite"/>
                      </p:stCondLst>
                      <p:childTnLst>
                        <p:par>
                          <p:cTn id="51" fill="hold">
                            <p:stCondLst>
                              <p:cond delay="0"/>
                            </p:stCondLst>
                            <p:childTnLst>
                              <p:par>
                                <p:cTn id="52" presetClass="entr" nodeType="clickEffect" presetSubtype="32" presetID="4" grpId="3" fill="hold">
                                  <p:stCondLst>
                                    <p:cond delay="0"/>
                                  </p:stCondLst>
                                  <p:iterate type="el" backwards="0">
                                    <p:tmAbs val="0"/>
                                  </p:iterate>
                                  <p:childTnLst>
                                    <p:set>
                                      <p:cBhvr>
                                        <p:cTn id="53" fill="hold"/>
                                        <p:tgtEl>
                                          <p:spTgt spid="177">
                                            <p:txEl>
                                              <p:pRg st="7" end="7"/>
                                            </p:txEl>
                                          </p:spTgt>
                                        </p:tgtEl>
                                        <p:attrNameLst>
                                          <p:attrName>style.visibility</p:attrName>
                                        </p:attrNameLst>
                                      </p:cBhvr>
                                      <p:to>
                                        <p:strVal val="visible"/>
                                      </p:to>
                                    </p:set>
                                    <p:animEffect filter="box(out)" transition="in">
                                      <p:cBhvr>
                                        <p:cTn id="54" dur="1000"/>
                                        <p:tgtEl>
                                          <p:spTgt spid="177">
                                            <p:txEl>
                                              <p:pRg st="7" end="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5" animBg="1" rev="0" advAuto="0" spid="177" grpId="3"/>
      <p:bldP build="whole" bldLvl="1" animBg="1" rev="0" advAuto="0" spid="179" grpId="2"/>
      <p:bldP build="whole" bldLvl="1" animBg="1" rev="0" advAuto="0" spid="178" grpId="1"/>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1" name="Bad VS Good Clustering"/>
          <p:cNvSpPr txBox="1"/>
          <p:nvPr>
            <p:ph type="title"/>
          </p:nvPr>
        </p:nvSpPr>
        <p:spPr>
          <a:prstGeom prst="rect">
            <a:avLst/>
          </a:prstGeom>
        </p:spPr>
        <p:txBody>
          <a:bodyPr/>
          <a:lstStyle/>
          <a:p>
            <a:pPr/>
            <a:r>
              <a:t>Bad VS Good Clustering</a:t>
            </a:r>
          </a:p>
        </p:txBody>
      </p:sp>
      <p:sp>
        <p:nvSpPr>
          <p:cNvPr id="182" name="Adding up the variation within each cluster…"/>
          <p:cNvSpPr txBox="1"/>
          <p:nvPr>
            <p:ph type="body" sz="half" idx="1"/>
          </p:nvPr>
        </p:nvSpPr>
        <p:spPr>
          <a:xfrm>
            <a:off x="1206500" y="2792913"/>
            <a:ext cx="21971000" cy="4267283"/>
          </a:xfrm>
          <a:prstGeom prst="rect">
            <a:avLst/>
          </a:prstGeom>
        </p:spPr>
        <p:txBody>
          <a:bodyPr/>
          <a:lstStyle/>
          <a:p>
            <a:pPr/>
            <a:r>
              <a:t>Adding up the variation within each cluster</a:t>
            </a:r>
          </a:p>
          <a:p>
            <a:pPr/>
            <a:r>
              <a:t>We want smaller variations </a:t>
            </a:r>
          </a:p>
          <a:p>
            <a:pPr/>
            <a:r>
              <a:t>Variation = 0 when there is only one point per cluster</a:t>
            </a:r>
          </a:p>
        </p:txBody>
      </p:sp>
    </p:spTree>
  </p:cSld>
  <p:clrMapOvr>
    <a:masterClrMapping/>
  </p:clrMapOvr>
  <mc:AlternateContent xmlns:mc="http://schemas.openxmlformats.org/markup-compatibility/2006">
    <mc:Choice xmlns:p14="http://schemas.microsoft.com/office/powerpoint/2010/main" Requires="p14">
      <p:transition spd="fast" advClick="1" p14:dur="750">
        <p:push dir="l"/>
      </p:transition>
    </mc:Choice>
    <mc:Fallback>
      <p:transition spd="fast">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4" name="The Elbow Method"/>
          <p:cNvSpPr txBox="1"/>
          <p:nvPr>
            <p:ph type="title"/>
          </p:nvPr>
        </p:nvSpPr>
        <p:spPr>
          <a:prstGeom prst="rect">
            <a:avLst/>
          </a:prstGeom>
        </p:spPr>
        <p:txBody>
          <a:bodyPr/>
          <a:lstStyle/>
          <a:p>
            <a:pPr/>
            <a:r>
              <a:t>The Elbow Method</a:t>
            </a:r>
          </a:p>
        </p:txBody>
      </p:sp>
      <p:sp>
        <p:nvSpPr>
          <p:cNvPr id="185" name="Finding Optimal K"/>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lvl1pPr defTabSz="1609303">
              <a:lnSpc>
                <a:spcPct val="80000"/>
              </a:lnSpc>
              <a:defRPr spc="-112" sz="5610"/>
            </a:lvl1pPr>
          </a:lstStyle>
          <a:p>
            <a:pPr/>
            <a:r>
              <a:t>Finding Optimal K</a:t>
            </a:r>
          </a:p>
        </p:txBody>
      </p:sp>
      <p:sp>
        <p:nvSpPr>
          <p:cNvPr id="186" name="The value of K at which improvement in variation declines the most is called the “elbow”, at which we should stop dividing the data into further clusters."/>
          <p:cNvSpPr txBox="1"/>
          <p:nvPr>
            <p:ph type="body" sz="quarter" idx="1"/>
          </p:nvPr>
        </p:nvSpPr>
        <p:spPr>
          <a:xfrm>
            <a:off x="13761144" y="4541205"/>
            <a:ext cx="9297523" cy="5632154"/>
          </a:xfrm>
          <a:prstGeom prst="rect">
            <a:avLst/>
          </a:prstGeom>
        </p:spPr>
        <p:txBody>
          <a:bodyPr/>
          <a:lstStyle/>
          <a:p>
            <a:pPr marL="0" indent="0">
              <a:lnSpc>
                <a:spcPct val="150000"/>
              </a:lnSpc>
              <a:buSzTx/>
              <a:buNone/>
            </a:pPr>
            <a:r>
              <a:t>The value of K at which improvement in variation declines the most is called the “</a:t>
            </a:r>
            <a:r>
              <a:rPr b="1"/>
              <a:t>elbow”</a:t>
            </a:r>
            <a:r>
              <a:t>, at which we should stop dividing the data into further clusters.</a:t>
            </a:r>
          </a:p>
        </p:txBody>
      </p:sp>
      <p:pic>
        <p:nvPicPr>
          <p:cNvPr id="187" name="pasted-movie.png" descr="pasted-movie.png"/>
          <p:cNvPicPr>
            <a:picLocks noChangeAspect="1"/>
          </p:cNvPicPr>
          <p:nvPr/>
        </p:nvPicPr>
        <p:blipFill>
          <a:blip r:embed="rId3">
            <a:extLst/>
          </a:blip>
          <a:srcRect l="0" t="8980" r="0" b="0"/>
          <a:stretch>
            <a:fillRect/>
          </a:stretch>
        </p:blipFill>
        <p:spPr>
          <a:xfrm>
            <a:off x="521287" y="4113114"/>
            <a:ext cx="12457362" cy="7569581"/>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fast" advClick="1" p14:dur="750">
        <p:push dir="l"/>
      </p:transition>
    </mc:Choice>
    <mc:Fallback>
      <p:transition spd="fast">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1" name="Gabrielle Wu"/>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Gabrielle Wu</a:t>
            </a:r>
          </a:p>
        </p:txBody>
      </p:sp>
      <p:sp>
        <p:nvSpPr>
          <p:cNvPr id="192" name="Linear Regression"/>
          <p:cNvSpPr txBox="1"/>
          <p:nvPr>
            <p:ph type="ctrTitle"/>
          </p:nvPr>
        </p:nvSpPr>
        <p:spPr>
          <a:prstGeom prst="rect">
            <a:avLst/>
          </a:prstGeom>
        </p:spPr>
        <p:txBody>
          <a:bodyPr/>
          <a:lstStyle/>
          <a:p>
            <a:pPr/>
            <a:r>
              <a:t>Linear Regression</a:t>
            </a:r>
          </a:p>
        </p:txBody>
      </p:sp>
      <p:sp>
        <p:nvSpPr>
          <p:cNvPr id="193" name="A supervised learning algorithm"/>
          <p:cNvSpPr txBox="1"/>
          <p:nvPr>
            <p:ph type="subTitle" sz="quarter" idx="1"/>
          </p:nvPr>
        </p:nvSpPr>
        <p:spPr>
          <a:prstGeom prst="rect">
            <a:avLst/>
          </a:prstGeom>
        </p:spPr>
        <p:txBody>
          <a:bodyPr/>
          <a:lstStyle/>
          <a:p>
            <a:pPr/>
            <a:r>
              <a:t>A supervised learning algorithm</a:t>
            </a:r>
          </a:p>
        </p:txBody>
      </p:sp>
    </p:spTree>
  </p:cSld>
  <p:clrMapOvr>
    <a:masterClrMapping/>
  </p:clrMapOvr>
  <mc:AlternateContent xmlns:mc="http://schemas.openxmlformats.org/markup-compatibility/2006">
    <mc:Choice xmlns:p14="http://schemas.microsoft.com/office/powerpoint/2010/main" Requires="p14">
      <p:transition spd="fast" advClick="1" p14:dur="750">
        <p:push dir="l"/>
      </p:transition>
    </mc:Choice>
    <mc:Fallback>
      <p:transition spd="fast">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7" name="Simple Linear Regression"/>
          <p:cNvSpPr txBox="1"/>
          <p:nvPr>
            <p:ph type="title"/>
          </p:nvPr>
        </p:nvSpPr>
        <p:spPr>
          <a:xfrm>
            <a:off x="1059109" y="3436934"/>
            <a:ext cx="9287924" cy="2428935"/>
          </a:xfrm>
          <a:prstGeom prst="rect">
            <a:avLst/>
          </a:prstGeom>
        </p:spPr>
        <p:txBody>
          <a:bodyPr/>
          <a:lstStyle/>
          <a:p>
            <a:pPr algn="ctr">
              <a:lnSpc>
                <a:spcPct val="110000"/>
              </a:lnSpc>
              <a:defRPr b="0" spc="-110" sz="5500"/>
            </a:pPr>
            <a:r>
              <a:t>Simple Linear Regression </a:t>
            </a:r>
          </a:p>
          <a:p>
            <a:pPr algn="ctr">
              <a:lnSpc>
                <a:spcPct val="110000"/>
              </a:lnSpc>
              <a:defRPr spc="-110" sz="5500"/>
            </a:pPr>
            <a14:m>
              <m:oMathPara>
                <m:oMathParaPr>
                  <m:jc m:val="center"/>
                </m:oMathParaPr>
                <m:oMath>
                  <m:limUpp>
                    <m:e>
                      <m:r>
                        <a:rPr xmlns:a="http://schemas.openxmlformats.org/drawingml/2006/main" sz="6600" i="1">
                          <a:solidFill>
                            <a:srgbClr val="000000"/>
                          </a:solidFill>
                          <a:latin typeface="Cambria Math" panose="02040503050406030204" pitchFamily="18" charset="0"/>
                        </a:rPr>
                        <m:t>y</m:t>
                      </m:r>
                    </m:e>
                    <m:lim>
                      <m:r>
                        <a:rPr xmlns:a="http://schemas.openxmlformats.org/drawingml/2006/main" sz="6600" i="1">
                          <a:solidFill>
                            <a:srgbClr val="000000"/>
                          </a:solidFill>
                          <a:latin typeface="Cambria Math" panose="02040503050406030204" pitchFamily="18" charset="0"/>
                        </a:rPr>
                        <m:t>̂</m:t>
                      </m:r>
                    </m:lim>
                  </m:limUpp>
                  <m:r>
                    <a:rPr xmlns:a="http://schemas.openxmlformats.org/drawingml/2006/main" sz="6600" i="1">
                      <a:solidFill>
                        <a:srgbClr val="000000"/>
                      </a:solidFill>
                      <a:latin typeface="Cambria Math" panose="02040503050406030204" pitchFamily="18" charset="0"/>
                    </a:rPr>
                    <m:t>=</m:t>
                  </m:r>
                  <m:sSub>
                    <m:e>
                      <m:r>
                        <a:rPr xmlns:a="http://schemas.openxmlformats.org/drawingml/2006/main" sz="6600" i="1">
                          <a:solidFill>
                            <a:srgbClr val="000000"/>
                          </a:solidFill>
                          <a:latin typeface="Cambria Math" panose="02040503050406030204" pitchFamily="18" charset="0"/>
                        </a:rPr>
                        <m:t>β</m:t>
                      </m:r>
                    </m:e>
                    <m:sub>
                      <m:r>
                        <a:rPr xmlns:a="http://schemas.openxmlformats.org/drawingml/2006/main" sz="6600" i="1">
                          <a:solidFill>
                            <a:srgbClr val="000000"/>
                          </a:solidFill>
                          <a:latin typeface="Cambria Math" panose="02040503050406030204" pitchFamily="18" charset="0"/>
                        </a:rPr>
                        <m:t>0</m:t>
                      </m:r>
                    </m:sub>
                  </m:sSub>
                  <m:r>
                    <a:rPr xmlns:a="http://schemas.openxmlformats.org/drawingml/2006/main" sz="6600" i="1">
                      <a:solidFill>
                        <a:srgbClr val="000000"/>
                      </a:solidFill>
                      <a:latin typeface="Cambria Math" panose="02040503050406030204" pitchFamily="18" charset="0"/>
                    </a:rPr>
                    <m:t>+</m:t>
                  </m:r>
                  <m:sSub>
                    <m:e>
                      <m:r>
                        <a:rPr xmlns:a="http://schemas.openxmlformats.org/drawingml/2006/main" sz="6600" i="1">
                          <a:solidFill>
                            <a:srgbClr val="000000"/>
                          </a:solidFill>
                          <a:latin typeface="Cambria Math" panose="02040503050406030204" pitchFamily="18" charset="0"/>
                        </a:rPr>
                        <m:t>β</m:t>
                      </m:r>
                    </m:e>
                    <m:sub>
                      <m:r>
                        <a:rPr xmlns:a="http://schemas.openxmlformats.org/drawingml/2006/main" sz="6600" i="1">
                          <a:solidFill>
                            <a:srgbClr val="000000"/>
                          </a:solidFill>
                          <a:latin typeface="Cambria Math" panose="02040503050406030204" pitchFamily="18" charset="0"/>
                        </a:rPr>
                        <m:t>1</m:t>
                      </m:r>
                    </m:sub>
                  </m:sSub>
                  <m:r>
                    <a:rPr xmlns:a="http://schemas.openxmlformats.org/drawingml/2006/main" sz="6600" i="1">
                      <a:solidFill>
                        <a:srgbClr val="000000"/>
                      </a:solidFill>
                      <a:latin typeface="Cambria Math" panose="02040503050406030204" pitchFamily="18" charset="0"/>
                    </a:rPr>
                    <m:t>x</m:t>
                  </m:r>
                </m:oMath>
              </m:oMathPara>
            </a14:m>
          </a:p>
        </p:txBody>
      </p:sp>
      <p:sp>
        <p:nvSpPr>
          <p:cNvPr id="198" name="Multiple Linear Regression"/>
          <p:cNvSpPr txBox="1"/>
          <p:nvPr/>
        </p:nvSpPr>
        <p:spPr>
          <a:xfrm>
            <a:off x="11932339" y="3419140"/>
            <a:ext cx="11684315" cy="250011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lgn="ctr">
              <a:lnSpc>
                <a:spcPct val="110000"/>
              </a:lnSpc>
              <a:spcBef>
                <a:spcPts val="0"/>
              </a:spcBef>
              <a:defRPr spc="-110" sz="5500"/>
            </a:pPr>
            <a:r>
              <a:t>Multiple Linear Regression</a:t>
            </a:r>
          </a:p>
          <a:p>
            <a:pPr algn="ctr">
              <a:lnSpc>
                <a:spcPct val="110000"/>
              </a:lnSpc>
              <a:spcBef>
                <a:spcPts val="0"/>
              </a:spcBef>
              <a:defRPr b="1" spc="-110" sz="5500"/>
            </a:pPr>
            <a14:m>
              <m:oMathPara>
                <m:oMathParaPr>
                  <m:jc m:val="center"/>
                </m:oMathParaPr>
                <m:oMath>
                  <m:limUpp>
                    <m:e>
                      <m:r>
                        <a:rPr xmlns:a="http://schemas.openxmlformats.org/drawingml/2006/main" sz="6600" i="1">
                          <a:solidFill>
                            <a:srgbClr val="000000"/>
                          </a:solidFill>
                          <a:latin typeface="Cambria Math" panose="02040503050406030204" pitchFamily="18" charset="0"/>
                        </a:rPr>
                        <m:t>y</m:t>
                      </m:r>
                    </m:e>
                    <m:lim>
                      <m:r>
                        <a:rPr xmlns:a="http://schemas.openxmlformats.org/drawingml/2006/main" sz="6600" i="1">
                          <a:solidFill>
                            <a:srgbClr val="000000"/>
                          </a:solidFill>
                          <a:latin typeface="Cambria Math" panose="02040503050406030204" pitchFamily="18" charset="0"/>
                        </a:rPr>
                        <m:t>̂</m:t>
                      </m:r>
                    </m:lim>
                  </m:limUpp>
                  <m:r>
                    <a:rPr xmlns:a="http://schemas.openxmlformats.org/drawingml/2006/main" sz="6600" i="1">
                      <a:solidFill>
                        <a:srgbClr val="000000"/>
                      </a:solidFill>
                      <a:latin typeface="Cambria Math" panose="02040503050406030204" pitchFamily="18" charset="0"/>
                    </a:rPr>
                    <m:t>=</m:t>
                  </m:r>
                  <m:sSub>
                    <m:e>
                      <m:r>
                        <a:rPr xmlns:a="http://schemas.openxmlformats.org/drawingml/2006/main" sz="6600" i="1">
                          <a:solidFill>
                            <a:srgbClr val="000000"/>
                          </a:solidFill>
                          <a:latin typeface="Cambria Math" panose="02040503050406030204" pitchFamily="18" charset="0"/>
                        </a:rPr>
                        <m:t>β</m:t>
                      </m:r>
                    </m:e>
                    <m:sub>
                      <m:r>
                        <a:rPr xmlns:a="http://schemas.openxmlformats.org/drawingml/2006/main" sz="6600" i="1">
                          <a:solidFill>
                            <a:srgbClr val="000000"/>
                          </a:solidFill>
                          <a:latin typeface="Cambria Math" panose="02040503050406030204" pitchFamily="18" charset="0"/>
                        </a:rPr>
                        <m:t>0</m:t>
                      </m:r>
                    </m:sub>
                  </m:sSub>
                  <m:r>
                    <a:rPr xmlns:a="http://schemas.openxmlformats.org/drawingml/2006/main" sz="6600" i="1">
                      <a:solidFill>
                        <a:srgbClr val="000000"/>
                      </a:solidFill>
                      <a:latin typeface="Cambria Math" panose="02040503050406030204" pitchFamily="18" charset="0"/>
                    </a:rPr>
                    <m:t>+</m:t>
                  </m:r>
                  <m:sSub>
                    <m:e>
                      <m:r>
                        <a:rPr xmlns:a="http://schemas.openxmlformats.org/drawingml/2006/main" sz="6600" i="1">
                          <a:solidFill>
                            <a:srgbClr val="000000"/>
                          </a:solidFill>
                          <a:latin typeface="Cambria Math" panose="02040503050406030204" pitchFamily="18" charset="0"/>
                        </a:rPr>
                        <m:t>β</m:t>
                      </m:r>
                    </m:e>
                    <m:sub>
                      <m:r>
                        <a:rPr xmlns:a="http://schemas.openxmlformats.org/drawingml/2006/main" sz="6600" i="1">
                          <a:solidFill>
                            <a:srgbClr val="000000"/>
                          </a:solidFill>
                          <a:latin typeface="Cambria Math" panose="02040503050406030204" pitchFamily="18" charset="0"/>
                        </a:rPr>
                        <m:t>1</m:t>
                      </m:r>
                    </m:sub>
                  </m:sSub>
                  <m:sSub>
                    <m:e>
                      <m:r>
                        <a:rPr xmlns:a="http://schemas.openxmlformats.org/drawingml/2006/main" sz="6600" i="1">
                          <a:solidFill>
                            <a:srgbClr val="000000"/>
                          </a:solidFill>
                          <a:latin typeface="Cambria Math" panose="02040503050406030204" pitchFamily="18" charset="0"/>
                        </a:rPr>
                        <m:t>x</m:t>
                      </m:r>
                    </m:e>
                    <m:sub>
                      <m:r>
                        <a:rPr xmlns:a="http://schemas.openxmlformats.org/drawingml/2006/main" sz="6600" i="1">
                          <a:solidFill>
                            <a:srgbClr val="000000"/>
                          </a:solidFill>
                          <a:latin typeface="Cambria Math" panose="02040503050406030204" pitchFamily="18" charset="0"/>
                        </a:rPr>
                        <m:t>1</m:t>
                      </m:r>
                    </m:sub>
                  </m:sSub>
                  <m:r>
                    <a:rPr xmlns:a="http://schemas.openxmlformats.org/drawingml/2006/main" sz="6600" i="1">
                      <a:solidFill>
                        <a:srgbClr val="000000"/>
                      </a:solidFill>
                      <a:latin typeface="Cambria Math" panose="02040503050406030204" pitchFamily="18" charset="0"/>
                    </a:rPr>
                    <m:t>+</m:t>
                  </m:r>
                  <m:sSub>
                    <m:e>
                      <m:r>
                        <a:rPr xmlns:a="http://schemas.openxmlformats.org/drawingml/2006/main" sz="6600" i="1">
                          <a:solidFill>
                            <a:srgbClr val="000000"/>
                          </a:solidFill>
                          <a:latin typeface="Cambria Math" panose="02040503050406030204" pitchFamily="18" charset="0"/>
                        </a:rPr>
                        <m:t>β</m:t>
                      </m:r>
                    </m:e>
                    <m:sub>
                      <m:r>
                        <a:rPr xmlns:a="http://schemas.openxmlformats.org/drawingml/2006/main" sz="6600" i="1">
                          <a:solidFill>
                            <a:srgbClr val="000000"/>
                          </a:solidFill>
                          <a:latin typeface="Cambria Math" panose="02040503050406030204" pitchFamily="18" charset="0"/>
                        </a:rPr>
                        <m:t>2</m:t>
                      </m:r>
                    </m:sub>
                  </m:sSub>
                  <m:sSub>
                    <m:e>
                      <m:r>
                        <a:rPr xmlns:a="http://schemas.openxmlformats.org/drawingml/2006/main" sz="6600" i="1">
                          <a:solidFill>
                            <a:srgbClr val="000000"/>
                          </a:solidFill>
                          <a:latin typeface="Cambria Math" panose="02040503050406030204" pitchFamily="18" charset="0"/>
                        </a:rPr>
                        <m:t>x</m:t>
                      </m:r>
                    </m:e>
                    <m:sub>
                      <m:r>
                        <a:rPr xmlns:a="http://schemas.openxmlformats.org/drawingml/2006/main" sz="6600" i="1">
                          <a:solidFill>
                            <a:srgbClr val="000000"/>
                          </a:solidFill>
                          <a:latin typeface="Cambria Math" panose="02040503050406030204" pitchFamily="18" charset="0"/>
                        </a:rPr>
                        <m:t>2</m:t>
                      </m:r>
                    </m:sub>
                  </m:sSub>
                  <m:r>
                    <a:rPr xmlns:a="http://schemas.openxmlformats.org/drawingml/2006/main" sz="6600" i="1">
                      <a:solidFill>
                        <a:srgbClr val="000000"/>
                      </a:solidFill>
                      <a:latin typeface="Cambria Math" panose="02040503050406030204" pitchFamily="18" charset="0"/>
                    </a:rPr>
                    <m:t>+</m:t>
                  </m:r>
                  <m:r>
                    <a:rPr xmlns:a="http://schemas.openxmlformats.org/drawingml/2006/main" sz="6600" i="1">
                      <a:solidFill>
                        <a:srgbClr val="000000"/>
                      </a:solidFill>
                      <a:latin typeface="Cambria Math" panose="02040503050406030204" pitchFamily="18" charset="0"/>
                    </a:rPr>
                    <m:t>…</m:t>
                  </m:r>
                  <m:r>
                    <a:rPr xmlns:a="http://schemas.openxmlformats.org/drawingml/2006/main" sz="6600" i="1">
                      <a:solidFill>
                        <a:srgbClr val="000000"/>
                      </a:solidFill>
                      <a:latin typeface="Cambria Math" panose="02040503050406030204" pitchFamily="18" charset="0"/>
                    </a:rPr>
                    <m:t>+</m:t>
                  </m:r>
                  <m:sSub>
                    <m:e>
                      <m:r>
                        <a:rPr xmlns:a="http://schemas.openxmlformats.org/drawingml/2006/main" sz="6600" i="1">
                          <a:solidFill>
                            <a:srgbClr val="000000"/>
                          </a:solidFill>
                          <a:latin typeface="Cambria Math" panose="02040503050406030204" pitchFamily="18" charset="0"/>
                        </a:rPr>
                        <m:t>β</m:t>
                      </m:r>
                    </m:e>
                    <m:sub>
                      <m:r>
                        <a:rPr xmlns:a="http://schemas.openxmlformats.org/drawingml/2006/main" sz="6600" i="1">
                          <a:solidFill>
                            <a:srgbClr val="000000"/>
                          </a:solidFill>
                          <a:latin typeface="Cambria Math" panose="02040503050406030204" pitchFamily="18" charset="0"/>
                        </a:rPr>
                        <m:t>n</m:t>
                      </m:r>
                    </m:sub>
                  </m:sSub>
                  <m:sSub>
                    <m:e>
                      <m:r>
                        <a:rPr xmlns:a="http://schemas.openxmlformats.org/drawingml/2006/main" sz="6600" i="1">
                          <a:solidFill>
                            <a:srgbClr val="000000"/>
                          </a:solidFill>
                          <a:latin typeface="Cambria Math" panose="02040503050406030204" pitchFamily="18" charset="0"/>
                        </a:rPr>
                        <m:t>x</m:t>
                      </m:r>
                    </m:e>
                    <m:sub>
                      <m:r>
                        <a:rPr xmlns:a="http://schemas.openxmlformats.org/drawingml/2006/main" sz="6600" i="1">
                          <a:solidFill>
                            <a:srgbClr val="000000"/>
                          </a:solidFill>
                          <a:latin typeface="Cambria Math" panose="02040503050406030204" pitchFamily="18" charset="0"/>
                        </a:rPr>
                        <m:t>n</m:t>
                      </m:r>
                    </m:sub>
                  </m:sSub>
                </m:oMath>
              </m:oMathPara>
            </a14:m>
          </a:p>
        </p:txBody>
      </p:sp>
      <p:pic>
        <p:nvPicPr>
          <p:cNvPr id="199" name="Screenshot 2025-09-19 at 5.03.01 AM.png" descr="Screenshot 2025-09-19 at 5.03.01 AM.png"/>
          <p:cNvPicPr>
            <a:picLocks noChangeAspect="1"/>
          </p:cNvPicPr>
          <p:nvPr/>
        </p:nvPicPr>
        <p:blipFill>
          <a:blip r:embed="rId3">
            <a:extLst/>
          </a:blip>
          <a:stretch>
            <a:fillRect/>
          </a:stretch>
        </p:blipFill>
        <p:spPr>
          <a:xfrm>
            <a:off x="767346" y="5848332"/>
            <a:ext cx="9871449" cy="5676988"/>
          </a:xfrm>
          <a:prstGeom prst="rect">
            <a:avLst/>
          </a:prstGeom>
          <a:ln w="12700">
            <a:miter lim="400000"/>
          </a:ln>
        </p:spPr>
      </p:pic>
      <p:pic>
        <p:nvPicPr>
          <p:cNvPr id="200" name="Screenshot 2025-09-19 at 5.03.28 AM.png" descr="Screenshot 2025-09-19 at 5.03.28 AM.png"/>
          <p:cNvPicPr>
            <a:picLocks noChangeAspect="1"/>
          </p:cNvPicPr>
          <p:nvPr/>
        </p:nvPicPr>
        <p:blipFill>
          <a:blip r:embed="rId4">
            <a:extLst/>
          </a:blip>
          <a:stretch>
            <a:fillRect/>
          </a:stretch>
        </p:blipFill>
        <p:spPr>
          <a:xfrm>
            <a:off x="12998218" y="5853138"/>
            <a:ext cx="9552557" cy="5667376"/>
          </a:xfrm>
          <a:prstGeom prst="rect">
            <a:avLst/>
          </a:prstGeom>
          <a:ln w="12700">
            <a:miter lim="400000"/>
          </a:ln>
        </p:spPr>
      </p:pic>
      <p:sp>
        <p:nvSpPr>
          <p:cNvPr id="201" name="1. Fit a line that minimizes the error between predictions and actual values"/>
          <p:cNvSpPr txBox="1"/>
          <p:nvPr/>
        </p:nvSpPr>
        <p:spPr>
          <a:xfrm>
            <a:off x="1206500" y="674752"/>
            <a:ext cx="21971000" cy="223837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a:lnSpc>
                <a:spcPct val="80000"/>
              </a:lnSpc>
              <a:spcBef>
                <a:spcPts val="0"/>
              </a:spcBef>
              <a:defRPr b="1" spc="-144" sz="7200"/>
            </a:lvl1pPr>
          </a:lstStyle>
          <a:p>
            <a:pPr/>
            <a:r>
              <a:t>1. Fit a line that minimizes the error between predictions and actual values</a:t>
            </a:r>
          </a:p>
        </p:txBody>
      </p:sp>
    </p:spTree>
  </p:cSld>
  <p:clrMapOvr>
    <a:masterClrMapping/>
  </p:clrMapOvr>
  <mc:AlternateContent xmlns:mc="http://schemas.openxmlformats.org/markup-compatibility/2006">
    <mc:Choice xmlns:p14="http://schemas.microsoft.com/office/powerpoint/2010/main" Requires="p14">
      <p:transition spd="slow" advClick="1" p14:dur="2000">
        <p:push dir="l"/>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32" presetID="4" grpId="1" fill="hold">
                                  <p:stCondLst>
                                    <p:cond delay="0"/>
                                  </p:stCondLst>
                                  <p:iterate type="el" backwards="0">
                                    <p:tmAbs val="0"/>
                                  </p:iterate>
                                  <p:childTnLst>
                                    <p:set>
                                      <p:cBhvr>
                                        <p:cTn id="6" fill="hold"/>
                                        <p:tgtEl>
                                          <p:spTgt spid="197"/>
                                        </p:tgtEl>
                                        <p:attrNameLst>
                                          <p:attrName>style.visibility</p:attrName>
                                        </p:attrNameLst>
                                      </p:cBhvr>
                                      <p:to>
                                        <p:strVal val="visible"/>
                                      </p:to>
                                    </p:set>
                                    <p:animEffect filter="box(out)" transition="in">
                                      <p:cBhvr>
                                        <p:cTn id="7" dur="1000"/>
                                        <p:tgtEl>
                                          <p:spTgt spid="197"/>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Subtype="32" presetID="4" grpId="2" fill="hold">
                                  <p:stCondLst>
                                    <p:cond delay="0"/>
                                  </p:stCondLst>
                                  <p:iterate type="el" backwards="0">
                                    <p:tmAbs val="0"/>
                                  </p:iterate>
                                  <p:childTnLst>
                                    <p:set>
                                      <p:cBhvr>
                                        <p:cTn id="11" fill="hold"/>
                                        <p:tgtEl>
                                          <p:spTgt spid="199"/>
                                        </p:tgtEl>
                                        <p:attrNameLst>
                                          <p:attrName>style.visibility</p:attrName>
                                        </p:attrNameLst>
                                      </p:cBhvr>
                                      <p:to>
                                        <p:strVal val="visible"/>
                                      </p:to>
                                    </p:set>
                                    <p:animEffect filter="box(out)" transition="in">
                                      <p:cBhvr>
                                        <p:cTn id="12" dur="1000"/>
                                        <p:tgtEl>
                                          <p:spTgt spid="199"/>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32" presetID="4" grpId="3" fill="hold">
                                  <p:stCondLst>
                                    <p:cond delay="0"/>
                                  </p:stCondLst>
                                  <p:iterate type="el" backwards="0">
                                    <p:tmAbs val="0"/>
                                  </p:iterate>
                                  <p:childTnLst>
                                    <p:set>
                                      <p:cBhvr>
                                        <p:cTn id="16" fill="hold"/>
                                        <p:tgtEl>
                                          <p:spTgt spid="198"/>
                                        </p:tgtEl>
                                        <p:attrNameLst>
                                          <p:attrName>style.visibility</p:attrName>
                                        </p:attrNameLst>
                                      </p:cBhvr>
                                      <p:to>
                                        <p:strVal val="visible"/>
                                      </p:to>
                                    </p:set>
                                    <p:animEffect filter="box(out)" transition="in">
                                      <p:cBhvr>
                                        <p:cTn id="17" dur="1000"/>
                                        <p:tgtEl>
                                          <p:spTgt spid="198"/>
                                        </p:tgtEl>
                                      </p:cBhvr>
                                    </p:animEffect>
                                  </p:childTnLst>
                                </p:cTn>
                              </p:par>
                            </p:childTnLst>
                          </p:cTn>
                        </p:par>
                      </p:childTnLst>
                    </p:cTn>
                  </p:par>
                  <p:par>
                    <p:cTn id="18" fill="hold">
                      <p:stCondLst>
                        <p:cond delay="indefinite"/>
                      </p:stCondLst>
                      <p:childTnLst>
                        <p:par>
                          <p:cTn id="19" fill="hold">
                            <p:stCondLst>
                              <p:cond delay="0"/>
                            </p:stCondLst>
                            <p:childTnLst>
                              <p:par>
                                <p:cTn id="20" presetClass="entr" nodeType="clickEffect" presetSubtype="32" presetID="4" grpId="4" fill="hold">
                                  <p:stCondLst>
                                    <p:cond delay="0"/>
                                  </p:stCondLst>
                                  <p:iterate type="el" backwards="0">
                                    <p:tmAbs val="0"/>
                                  </p:iterate>
                                  <p:childTnLst>
                                    <p:set>
                                      <p:cBhvr>
                                        <p:cTn id="21" fill="hold"/>
                                        <p:tgtEl>
                                          <p:spTgt spid="200"/>
                                        </p:tgtEl>
                                        <p:attrNameLst>
                                          <p:attrName>style.visibility</p:attrName>
                                        </p:attrNameLst>
                                      </p:cBhvr>
                                      <p:to>
                                        <p:strVal val="visible"/>
                                      </p:to>
                                    </p:set>
                                    <p:animEffect filter="box(out)" transition="in">
                                      <p:cBhvr>
                                        <p:cTn id="22" dur="1000"/>
                                        <p:tgtEl>
                                          <p:spTgt spid="2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98" grpId="3"/>
      <p:bldP build="whole" bldLvl="1" animBg="1" rev="0" advAuto="0" spid="199" grpId="2"/>
      <p:bldP build="whole" bldLvl="1" animBg="1" rev="0" advAuto="0" spid="200" grpId="4"/>
      <p:bldP build="whole" bldLvl="1" animBg="1" rev="0" advAuto="0" spid="197" grpId="1"/>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5" name="2. Error measured by residuals (difference between predicted and true Y)"/>
          <p:cNvSpPr txBox="1"/>
          <p:nvPr>
            <p:ph type="title"/>
          </p:nvPr>
        </p:nvSpPr>
        <p:spPr>
          <a:xfrm>
            <a:off x="1206500" y="1079500"/>
            <a:ext cx="21971000" cy="2371680"/>
          </a:xfrm>
          <a:prstGeom prst="rect">
            <a:avLst/>
          </a:prstGeom>
        </p:spPr>
        <p:txBody>
          <a:bodyPr/>
          <a:lstStyle>
            <a:lvl1pPr>
              <a:defRPr spc="-144" sz="7200"/>
            </a:lvl1pPr>
          </a:lstStyle>
          <a:p>
            <a:pPr/>
            <a:r>
              <a:t>2. Error measured by residuals (difference between predicted and true Y)</a:t>
            </a:r>
          </a:p>
        </p:txBody>
      </p:sp>
      <p:sp>
        <p:nvSpPr>
          <p:cNvPr id="206" name="Slide bullet text"/>
          <p:cNvSpPr txBox="1"/>
          <p:nvPr>
            <p:ph type="body" sz="quarter" idx="1"/>
          </p:nvPr>
        </p:nvSpPr>
        <p:spPr>
          <a:xfrm>
            <a:off x="1206500" y="3993519"/>
            <a:ext cx="21971000" cy="1900317"/>
          </a:xfrm>
          <a:prstGeom prst="rect">
            <a:avLst/>
          </a:prstGeom>
        </p:spPr>
        <p:txBody>
          <a:bodyPr/>
          <a:lstStyle>
            <a:lvl1pPr marL="0" indent="0" algn="ctr">
              <a:buSzTx/>
              <a:buNone/>
            </a:lvl1pPr>
          </a:lstStyle>
          <a:p>
            <a:pPr/>
            <a14:m>
              <m:oMathPara>
                <m:oMathParaPr>
                  <m:jc m:val="center"/>
                </m:oMathParaPr>
                <m:oMath>
                  <m:sSub>
                    <m:e>
                      <m:r>
                        <a:rPr xmlns:a="http://schemas.openxmlformats.org/drawingml/2006/main" sz="5750" i="1">
                          <a:solidFill>
                            <a:srgbClr val="000000"/>
                          </a:solidFill>
                          <a:latin typeface="Cambria Math" panose="02040503050406030204" pitchFamily="18" charset="0"/>
                        </a:rPr>
                        <m:t>e</m:t>
                      </m:r>
                    </m:e>
                    <m:sub>
                      <m:r>
                        <a:rPr xmlns:a="http://schemas.openxmlformats.org/drawingml/2006/main" sz="5750" i="1">
                          <a:solidFill>
                            <a:srgbClr val="000000"/>
                          </a:solidFill>
                          <a:latin typeface="Cambria Math" panose="02040503050406030204" pitchFamily="18" charset="0"/>
                        </a:rPr>
                        <m:t>i</m:t>
                      </m:r>
                    </m:sub>
                  </m:sSub>
                  <m:r>
                    <a:rPr xmlns:a="http://schemas.openxmlformats.org/drawingml/2006/main" sz="5750" i="1">
                      <a:solidFill>
                        <a:srgbClr val="000000"/>
                      </a:solidFill>
                      <a:latin typeface="Cambria Math" panose="02040503050406030204" pitchFamily="18" charset="0"/>
                    </a:rPr>
                    <m:t>=</m:t>
                  </m:r>
                  <m:sSub>
                    <m:e>
                      <m:r>
                        <a:rPr xmlns:a="http://schemas.openxmlformats.org/drawingml/2006/main" sz="5750" i="1">
                          <a:solidFill>
                            <a:srgbClr val="000000"/>
                          </a:solidFill>
                          <a:latin typeface="Cambria Math" panose="02040503050406030204" pitchFamily="18" charset="0"/>
                        </a:rPr>
                        <m:t>y</m:t>
                      </m:r>
                    </m:e>
                    <m:sub>
                      <m:r>
                        <a:rPr xmlns:a="http://schemas.openxmlformats.org/drawingml/2006/main" sz="5750" i="1">
                          <a:solidFill>
                            <a:srgbClr val="000000"/>
                          </a:solidFill>
                          <a:latin typeface="Cambria Math" panose="02040503050406030204" pitchFamily="18" charset="0"/>
                        </a:rPr>
                        <m:t>i</m:t>
                      </m:r>
                    </m:sub>
                  </m:sSub>
                  <m:r>
                    <a:rPr xmlns:a="http://schemas.openxmlformats.org/drawingml/2006/main" sz="5750" i="1">
                      <a:solidFill>
                        <a:srgbClr val="000000"/>
                      </a:solidFill>
                      <a:latin typeface="Cambria Math" panose="02040503050406030204" pitchFamily="18" charset="0"/>
                    </a:rPr>
                    <m:t>-</m:t>
                  </m:r>
                  <m:sSub>
                    <m:e>
                      <m:limUpp>
                        <m:e>
                          <m:r>
                            <a:rPr xmlns:a="http://schemas.openxmlformats.org/drawingml/2006/main" sz="5750" i="1">
                              <a:solidFill>
                                <a:srgbClr val="000000"/>
                              </a:solidFill>
                              <a:latin typeface="Cambria Math" panose="02040503050406030204" pitchFamily="18" charset="0"/>
                            </a:rPr>
                            <m:t>y</m:t>
                          </m:r>
                        </m:e>
                        <m:lim>
                          <m:r>
                            <a:rPr xmlns:a="http://schemas.openxmlformats.org/drawingml/2006/main" sz="5750" i="1">
                              <a:solidFill>
                                <a:srgbClr val="000000"/>
                              </a:solidFill>
                              <a:latin typeface="Cambria Math" panose="02040503050406030204" pitchFamily="18" charset="0"/>
                            </a:rPr>
                            <m:t>̂</m:t>
                          </m:r>
                        </m:lim>
                      </m:limUpp>
                    </m:e>
                    <m:sub>
                      <m:r>
                        <a:rPr xmlns:a="http://schemas.openxmlformats.org/drawingml/2006/main" sz="5750" i="1">
                          <a:solidFill>
                            <a:srgbClr val="000000"/>
                          </a:solidFill>
                          <a:latin typeface="Cambria Math" panose="02040503050406030204" pitchFamily="18" charset="0"/>
                        </a:rPr>
                        <m:t>i</m:t>
                      </m:r>
                    </m:sub>
                  </m:sSub>
                </m:oMath>
              </m:oMathPara>
            </a14:m>
          </a:p>
        </p:txBody>
      </p:sp>
      <p:sp>
        <p:nvSpPr>
          <p:cNvPr id="207" name="3. Uses Mean-Squared Error (MSE) to minimize the sum of squared residuals"/>
          <p:cNvSpPr txBox="1"/>
          <p:nvPr/>
        </p:nvSpPr>
        <p:spPr>
          <a:xfrm>
            <a:off x="1206500" y="6436174"/>
            <a:ext cx="21971000" cy="237168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a:lnSpc>
                <a:spcPct val="80000"/>
              </a:lnSpc>
              <a:spcBef>
                <a:spcPts val="0"/>
              </a:spcBef>
              <a:defRPr b="1" spc="-144" sz="7200"/>
            </a:lvl1pPr>
          </a:lstStyle>
          <a:p>
            <a:pPr/>
            <a:r>
              <a:t>3. Uses Mean-Squared Error (MSE) to minimize the sum of squared residuals</a:t>
            </a:r>
          </a:p>
        </p:txBody>
      </p:sp>
      <p:sp>
        <p:nvSpPr>
          <p:cNvPr id="208" name="Rectangle"/>
          <p:cNvSpPr txBox="1"/>
          <p:nvPr/>
        </p:nvSpPr>
        <p:spPr>
          <a:xfrm>
            <a:off x="1206500" y="9869436"/>
            <a:ext cx="21971000" cy="321575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algn="ctr"/>
          </a:lstStyle>
          <a:p>
            <a:pPr/>
            <a14:m>
              <m:oMathPara>
                <m:oMathParaPr>
                  <m:jc m:val="center"/>
                </m:oMathParaPr>
                <m:oMath>
                  <m:r>
                    <a:rPr xmlns:a="http://schemas.openxmlformats.org/drawingml/2006/main" sz="5750" i="1">
                      <a:solidFill>
                        <a:srgbClr val="000000"/>
                      </a:solidFill>
                      <a:latin typeface="Cambria Math" panose="02040503050406030204" pitchFamily="18" charset="0"/>
                    </a:rPr>
                    <m:t>M</m:t>
                  </m:r>
                  <m:r>
                    <a:rPr xmlns:a="http://schemas.openxmlformats.org/drawingml/2006/main" sz="5750" i="1">
                      <a:solidFill>
                        <a:srgbClr val="000000"/>
                      </a:solidFill>
                      <a:latin typeface="Cambria Math" panose="02040503050406030204" pitchFamily="18" charset="0"/>
                    </a:rPr>
                    <m:t>S</m:t>
                  </m:r>
                  <m:r>
                    <a:rPr xmlns:a="http://schemas.openxmlformats.org/drawingml/2006/main" sz="5750" i="1">
                      <a:solidFill>
                        <a:srgbClr val="000000"/>
                      </a:solidFill>
                      <a:latin typeface="Cambria Math" panose="02040503050406030204" pitchFamily="18" charset="0"/>
                    </a:rPr>
                    <m:t>E</m:t>
                  </m:r>
                  <m:r>
                    <a:rPr xmlns:a="http://schemas.openxmlformats.org/drawingml/2006/main" sz="5750" i="1">
                      <a:solidFill>
                        <a:srgbClr val="000000"/>
                      </a:solidFill>
                      <a:latin typeface="Cambria Math" panose="02040503050406030204" pitchFamily="18" charset="0"/>
                    </a:rPr>
                    <m:t>=</m:t>
                  </m:r>
                  <m:f>
                    <m:fPr>
                      <m:ctrlPr>
                        <a:rPr xmlns:a="http://schemas.openxmlformats.org/drawingml/2006/main" sz="5750" i="1">
                          <a:solidFill>
                            <a:srgbClr val="000000"/>
                          </a:solidFill>
                          <a:latin typeface="Cambria Math" panose="02040503050406030204" pitchFamily="18" charset="0"/>
                        </a:rPr>
                      </m:ctrlPr>
                      <m:type m:val="bar"/>
                    </m:fPr>
                    <m:num>
                      <m:r>
                        <a:rPr xmlns:a="http://schemas.openxmlformats.org/drawingml/2006/main" sz="5750" i="1">
                          <a:solidFill>
                            <a:srgbClr val="000000"/>
                          </a:solidFill>
                          <a:latin typeface="Cambria Math" panose="02040503050406030204" pitchFamily="18" charset="0"/>
                        </a:rPr>
                        <m:t>1</m:t>
                      </m:r>
                    </m:num>
                    <m:den>
                      <m:r>
                        <a:rPr xmlns:a="http://schemas.openxmlformats.org/drawingml/2006/main" sz="5750" i="1">
                          <a:solidFill>
                            <a:srgbClr val="000000"/>
                          </a:solidFill>
                          <a:latin typeface="Cambria Math" panose="02040503050406030204" pitchFamily="18" charset="0"/>
                        </a:rPr>
                        <m:t>n</m:t>
                      </m:r>
                    </m:den>
                  </m:f>
                  <m:limUpp>
                    <m:e>
                      <m:limLow>
                        <m:e>
                          <m:r>
                            <a:rPr xmlns:a="http://schemas.openxmlformats.org/drawingml/2006/main" sz="5750" i="1">
                              <a:solidFill>
                                <a:srgbClr val="000000"/>
                              </a:solidFill>
                              <a:latin typeface="Cambria Math" panose="02040503050406030204" pitchFamily="18" charset="0"/>
                            </a:rPr>
                            <m:t>∑</m:t>
                          </m:r>
                        </m:e>
                        <m:lim>
                          <m:r>
                            <a:rPr xmlns:a="http://schemas.openxmlformats.org/drawingml/2006/main" sz="5750" i="1">
                              <a:solidFill>
                                <a:srgbClr val="000000"/>
                              </a:solidFill>
                              <a:latin typeface="Cambria Math" panose="02040503050406030204" pitchFamily="18" charset="0"/>
                            </a:rPr>
                            <m:t>i</m:t>
                          </m:r>
                          <m:r>
                            <a:rPr xmlns:a="http://schemas.openxmlformats.org/drawingml/2006/main" sz="5750" i="1">
                              <a:solidFill>
                                <a:srgbClr val="000000"/>
                              </a:solidFill>
                              <a:latin typeface="Cambria Math" panose="02040503050406030204" pitchFamily="18" charset="0"/>
                            </a:rPr>
                            <m:t>=</m:t>
                          </m:r>
                          <m:r>
                            <a:rPr xmlns:a="http://schemas.openxmlformats.org/drawingml/2006/main" sz="5750" i="1">
                              <a:solidFill>
                                <a:srgbClr val="000000"/>
                              </a:solidFill>
                              <a:latin typeface="Cambria Math" panose="02040503050406030204" pitchFamily="18" charset="0"/>
                            </a:rPr>
                            <m:t>1</m:t>
                          </m:r>
                        </m:lim>
                      </m:limLow>
                    </m:e>
                    <m:lim>
                      <m:r>
                        <a:rPr xmlns:a="http://schemas.openxmlformats.org/drawingml/2006/main" sz="5750" i="1">
                          <a:solidFill>
                            <a:srgbClr val="000000"/>
                          </a:solidFill>
                          <a:latin typeface="Cambria Math" panose="02040503050406030204" pitchFamily="18" charset="0"/>
                        </a:rPr>
                        <m:t>n</m:t>
                      </m:r>
                    </m:lim>
                  </m:limUpp>
                  <m:sSup>
                    <m:e>
                      <m:d>
                        <m:dPr>
                          <m:ctrlPr>
                            <a:rPr xmlns:a="http://schemas.openxmlformats.org/drawingml/2006/main" sz="5750" i="1">
                              <a:solidFill>
                                <a:srgbClr val="000000"/>
                              </a:solidFill>
                              <a:latin typeface="Cambria Math" panose="02040503050406030204" pitchFamily="18" charset="0"/>
                            </a:rPr>
                          </m:ctrlPr>
                        </m:dPr>
                        <m:e>
                          <m:sSub>
                            <m:e>
                              <m:r>
                                <a:rPr xmlns:a="http://schemas.openxmlformats.org/drawingml/2006/main" sz="5750" i="1">
                                  <a:solidFill>
                                    <a:srgbClr val="000000"/>
                                  </a:solidFill>
                                  <a:latin typeface="Cambria Math" panose="02040503050406030204" pitchFamily="18" charset="0"/>
                                </a:rPr>
                                <m:t>y</m:t>
                              </m:r>
                            </m:e>
                            <m:sub>
                              <m:r>
                                <a:rPr xmlns:a="http://schemas.openxmlformats.org/drawingml/2006/main" sz="5750" i="1">
                                  <a:solidFill>
                                    <a:srgbClr val="000000"/>
                                  </a:solidFill>
                                  <a:latin typeface="Cambria Math" panose="02040503050406030204" pitchFamily="18" charset="0"/>
                                </a:rPr>
                                <m:t>i</m:t>
                              </m:r>
                            </m:sub>
                          </m:sSub>
                          <m:r>
                            <a:rPr xmlns:a="http://schemas.openxmlformats.org/drawingml/2006/main" sz="5750" i="1">
                              <a:solidFill>
                                <a:srgbClr val="000000"/>
                              </a:solidFill>
                              <a:latin typeface="Cambria Math" panose="02040503050406030204" pitchFamily="18" charset="0"/>
                            </a:rPr>
                            <m:t>-</m:t>
                          </m:r>
                          <m:sSub>
                            <m:e>
                              <m:limUpp>
                                <m:e>
                                  <m:r>
                                    <a:rPr xmlns:a="http://schemas.openxmlformats.org/drawingml/2006/main" sz="5750" i="1">
                                      <a:solidFill>
                                        <a:srgbClr val="000000"/>
                                      </a:solidFill>
                                      <a:latin typeface="Cambria Math" panose="02040503050406030204" pitchFamily="18" charset="0"/>
                                    </a:rPr>
                                    <m:t>y</m:t>
                                  </m:r>
                                </m:e>
                                <m:lim>
                                  <m:r>
                                    <a:rPr xmlns:a="http://schemas.openxmlformats.org/drawingml/2006/main" sz="5750" i="1">
                                      <a:solidFill>
                                        <a:srgbClr val="000000"/>
                                      </a:solidFill>
                                      <a:latin typeface="Cambria Math" panose="02040503050406030204" pitchFamily="18" charset="0"/>
                                    </a:rPr>
                                    <m:t>̂</m:t>
                                  </m:r>
                                </m:lim>
                              </m:limUpp>
                            </m:e>
                            <m:sub>
                              <m:r>
                                <a:rPr xmlns:a="http://schemas.openxmlformats.org/drawingml/2006/main" sz="5750" i="1">
                                  <a:solidFill>
                                    <a:srgbClr val="000000"/>
                                  </a:solidFill>
                                  <a:latin typeface="Cambria Math" panose="02040503050406030204" pitchFamily="18" charset="0"/>
                                </a:rPr>
                                <m:t>i</m:t>
                              </m:r>
                            </m:sub>
                          </m:sSub>
                        </m:e>
                      </m:d>
                    </m:e>
                    <m:sup>
                      <m:r>
                        <a:rPr xmlns:a="http://schemas.openxmlformats.org/drawingml/2006/main" sz="5750" i="1">
                          <a:solidFill>
                            <a:srgbClr val="000000"/>
                          </a:solidFill>
                          <a:latin typeface="Cambria Math" panose="02040503050406030204" pitchFamily="18" charset="0"/>
                        </a:rPr>
                        <m:t>2</m:t>
                      </m:r>
                    </m:sup>
                  </m:sSup>
                </m:oMath>
              </m:oMathPara>
            </a14:m>
          </a:p>
        </p:txBody>
      </p:sp>
    </p:spTree>
  </p:cSld>
  <p:clrMapOvr>
    <a:masterClrMapping/>
  </p:clrMapOvr>
  <mc:AlternateContent xmlns:mc="http://schemas.openxmlformats.org/markup-compatibility/2006">
    <mc:Choice xmlns:p14="http://schemas.microsoft.com/office/powerpoint/2010/main" Requires="p14">
      <p:transition spd="fast" advClick="1" p14:dur="750">
        <p:push dir="l"/>
      </p:transition>
    </mc:Choice>
    <mc:Fallback>
      <p:transition spd="fast">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32" presetID="4" grpId="1" fill="hold">
                                  <p:stCondLst>
                                    <p:cond delay="0"/>
                                  </p:stCondLst>
                                  <p:iterate type="el" backwards="0">
                                    <p:tmAbs val="0"/>
                                  </p:iterate>
                                  <p:childTnLst>
                                    <p:set>
                                      <p:cBhvr>
                                        <p:cTn id="6" fill="hold"/>
                                        <p:tgtEl>
                                          <p:spTgt spid="205"/>
                                        </p:tgtEl>
                                        <p:attrNameLst>
                                          <p:attrName>style.visibility</p:attrName>
                                        </p:attrNameLst>
                                      </p:cBhvr>
                                      <p:to>
                                        <p:strVal val="visible"/>
                                      </p:to>
                                    </p:set>
                                    <p:animEffect filter="box(out)" transition="in">
                                      <p:cBhvr>
                                        <p:cTn id="7" dur="1000"/>
                                        <p:tgtEl>
                                          <p:spTgt spid="205"/>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Subtype="32" presetID="4" grpId="2" fill="hold">
                                  <p:stCondLst>
                                    <p:cond delay="0"/>
                                  </p:stCondLst>
                                  <p:iterate type="el" backwards="0">
                                    <p:tmAbs val="0"/>
                                  </p:iterate>
                                  <p:childTnLst>
                                    <p:set>
                                      <p:cBhvr>
                                        <p:cTn id="11" fill="hold"/>
                                        <p:tgtEl>
                                          <p:spTgt spid="206"/>
                                        </p:tgtEl>
                                        <p:attrNameLst>
                                          <p:attrName>style.visibility</p:attrName>
                                        </p:attrNameLst>
                                      </p:cBhvr>
                                      <p:to>
                                        <p:strVal val="visible"/>
                                      </p:to>
                                    </p:set>
                                    <p:animEffect filter="box(out)" transition="in">
                                      <p:cBhvr>
                                        <p:cTn id="12" dur="1000"/>
                                        <p:tgtEl>
                                          <p:spTgt spid="206"/>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32" presetID="4" grpId="3" fill="hold">
                                  <p:stCondLst>
                                    <p:cond delay="0"/>
                                  </p:stCondLst>
                                  <p:iterate type="el" backwards="0">
                                    <p:tmAbs val="0"/>
                                  </p:iterate>
                                  <p:childTnLst>
                                    <p:set>
                                      <p:cBhvr>
                                        <p:cTn id="16" fill="hold"/>
                                        <p:tgtEl>
                                          <p:spTgt spid="207"/>
                                        </p:tgtEl>
                                        <p:attrNameLst>
                                          <p:attrName>style.visibility</p:attrName>
                                        </p:attrNameLst>
                                      </p:cBhvr>
                                      <p:to>
                                        <p:strVal val="visible"/>
                                      </p:to>
                                    </p:set>
                                    <p:animEffect filter="box(out)" transition="in">
                                      <p:cBhvr>
                                        <p:cTn id="17" dur="1000"/>
                                        <p:tgtEl>
                                          <p:spTgt spid="207"/>
                                        </p:tgtEl>
                                      </p:cBhvr>
                                    </p:animEffect>
                                  </p:childTnLst>
                                </p:cTn>
                              </p:par>
                            </p:childTnLst>
                          </p:cTn>
                        </p:par>
                      </p:childTnLst>
                    </p:cTn>
                  </p:par>
                  <p:par>
                    <p:cTn id="18" fill="hold">
                      <p:stCondLst>
                        <p:cond delay="indefinite"/>
                      </p:stCondLst>
                      <p:childTnLst>
                        <p:par>
                          <p:cTn id="19" fill="hold">
                            <p:stCondLst>
                              <p:cond delay="0"/>
                            </p:stCondLst>
                            <p:childTnLst>
                              <p:par>
                                <p:cTn id="20" presetClass="entr" nodeType="clickEffect" presetSubtype="32" presetID="4" grpId="4" fill="hold">
                                  <p:stCondLst>
                                    <p:cond delay="0"/>
                                  </p:stCondLst>
                                  <p:iterate type="el" backwards="0">
                                    <p:tmAbs val="0"/>
                                  </p:iterate>
                                  <p:childTnLst>
                                    <p:set>
                                      <p:cBhvr>
                                        <p:cTn id="21" fill="hold"/>
                                        <p:tgtEl>
                                          <p:spTgt spid="208"/>
                                        </p:tgtEl>
                                        <p:attrNameLst>
                                          <p:attrName>style.visibility</p:attrName>
                                        </p:attrNameLst>
                                      </p:cBhvr>
                                      <p:to>
                                        <p:strVal val="visible"/>
                                      </p:to>
                                    </p:set>
                                    <p:animEffect filter="box(out)" transition="in">
                                      <p:cBhvr>
                                        <p:cTn id="22" dur="1000"/>
                                        <p:tgtEl>
                                          <p:spTgt spid="2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06" grpId="2"/>
      <p:bldP build="whole" bldLvl="1" animBg="1" rev="0" advAuto="0" spid="207" grpId="3"/>
      <p:bldP build="whole" bldLvl="1" animBg="1" rev="0" advAuto="0" spid="205" grpId="1"/>
      <p:bldP build="whole" bldLvl="1" animBg="1" rev="0" advAuto="0" spid="208" grpId="4"/>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2" name="Real-World Use Cases"/>
          <p:cNvSpPr txBox="1"/>
          <p:nvPr>
            <p:ph type="title"/>
          </p:nvPr>
        </p:nvSpPr>
        <p:spPr>
          <a:prstGeom prst="rect">
            <a:avLst/>
          </a:prstGeom>
        </p:spPr>
        <p:txBody>
          <a:bodyPr/>
          <a:lstStyle/>
          <a:p>
            <a:pPr/>
            <a:r>
              <a:t>Real-World Use Cases</a:t>
            </a:r>
          </a:p>
        </p:txBody>
      </p:sp>
      <p:sp>
        <p:nvSpPr>
          <p:cNvPr id="213" name="Stock market predictions…"/>
          <p:cNvSpPr txBox="1"/>
          <p:nvPr>
            <p:ph type="body" idx="1"/>
          </p:nvPr>
        </p:nvSpPr>
        <p:spPr>
          <a:xfrm>
            <a:off x="1206500" y="3225279"/>
            <a:ext cx="21971000" cy="9279237"/>
          </a:xfrm>
          <a:prstGeom prst="rect">
            <a:avLst/>
          </a:prstGeom>
        </p:spPr>
        <p:txBody>
          <a:bodyPr/>
          <a:lstStyle/>
          <a:p>
            <a:pPr/>
            <a:r>
              <a:t>Stock market predictions </a:t>
            </a:r>
          </a:p>
          <a:p>
            <a:pPr/>
            <a:r>
              <a:t>Real Estate price predictions </a:t>
            </a:r>
          </a:p>
          <a:p>
            <a:pPr/>
            <a:r>
              <a:t>Sales forecasting</a:t>
            </a:r>
          </a:p>
        </p:txBody>
      </p:sp>
    </p:spTree>
  </p:cSld>
  <p:clrMapOvr>
    <a:masterClrMapping/>
  </p:clrMapOvr>
  <mc:AlternateContent xmlns:mc="http://schemas.openxmlformats.org/markup-compatibility/2006">
    <mc:Choice xmlns:p14="http://schemas.microsoft.com/office/powerpoint/2010/main" Requires="p14">
      <p:transition spd="fast" advClick="1" p14:dur="750">
        <p:push dir="l"/>
      </p:transition>
    </mc:Choice>
    <mc:Fallback>
      <p:transition spd="fast">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lt" backwards="0">
                                    <p:tmAbs val="100"/>
                                  </p:iterate>
                                  <p:childTnLst>
                                    <p:set>
                                      <p:cBhvr>
                                        <p:cTn id="6" fill="hold"/>
                                        <p:tgtEl>
                                          <p:spTgt spid="213">
                                            <p:bg/>
                                          </p:spTgt>
                                        </p:tgtEl>
                                        <p:attrNameLst>
                                          <p:attrName>style.visibility</p:attrName>
                                        </p:attrNameLst>
                                      </p:cBhvr>
                                      <p:to>
                                        <p:strVal val="visible"/>
                                      </p:to>
                                    </p:set>
                                  </p:childTnLst>
                                </p:cTn>
                              </p:par>
                              <p:par>
                                <p:cTn id="7" presetClass="entr" nodeType="withEffect" presetSubtype="0" presetID="1" grpId="1" fill="hold">
                                  <p:stCondLst>
                                    <p:cond delay="0"/>
                                  </p:stCondLst>
                                  <p:iterate type="lt" backwards="0">
                                    <p:tmAbs val="100"/>
                                  </p:iterate>
                                  <p:childTnLst>
                                    <p:set>
                                      <p:cBhvr>
                                        <p:cTn id="8" fill="hold"/>
                                        <p:tgtEl>
                                          <p:spTgt spid="21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0" presetID="1" grpId="1" fill="hold">
                                  <p:stCondLst>
                                    <p:cond delay="0"/>
                                  </p:stCondLst>
                                  <p:iterate type="lt" backwards="0">
                                    <p:tmAbs val="100"/>
                                  </p:iterate>
                                  <p:childTnLst>
                                    <p:set>
                                      <p:cBhvr>
                                        <p:cTn id="12" fill="hold"/>
                                        <p:tgtEl>
                                          <p:spTgt spid="21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0" presetID="1" grpId="1" fill="hold">
                                  <p:stCondLst>
                                    <p:cond delay="0"/>
                                  </p:stCondLst>
                                  <p:iterate type="lt" backwards="0">
                                    <p:tmAbs val="100"/>
                                  </p:iterate>
                                  <p:childTnLst>
                                    <p:set>
                                      <p:cBhvr>
                                        <p:cTn id="16" fill="hold"/>
                                        <p:tgtEl>
                                          <p:spTgt spid="213">
                                            <p:txEl>
                                              <p:pRg st="2" end="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5" animBg="1" rev="0" advAuto="0" spid="213" grpId="1"/>
    </p:bldLst>
  </p:timing>
</p:sld>
</file>

<file path=ppt/theme/theme1.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